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final project, I am planning to build a proactive CFPB complaint monitoring and risk analytics application. The goal is to help financial institutions monitor complaint trends before they become larger operational, audit, or regulatory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that complaint information is often gathered and explained reactively. The project is meant to give risk, compliance, and complaint operations teams a more proactive way to see where issues are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users are risk analysts, compliance teams, complaint operations teams, and managers preparing for audit or regulatory reviews. The application is not meant to replace judgment. It is meant to help users see patterns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source is the CFPB Consumer Complaint Database from BigQuery public datasets. The main fields I plan to use include dates, product and issue information, company and geography fields, response outcome, and timeliness. Complaint narratives may be used if there is time for basic text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functions are filtering, trend viewing, complaint volume summaries, response timeliness, and simple flags for rising risk areas. Text analysis is optional and would be treated as an enhancement rather than the main project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output is a dashboard or lightweight web application. It should include complaint volume summaries, trend charts, top complaint categories, response timeliness metrics, response breakdowns, and risk flags. The success criteria are clarity, usefulness, and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prefer a cloud-service-based approach with PaaS-style deployment. Since the data is already in BigQuery, it makes sense to use cloud services for data access and possibly deployment. The advantage is that I can focus on the analytics and application design rather than managing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advantages are reduced infrastructure management, scalability, and a more realistic cloud-native design. The disadvantages are the learning curve, cloud configuration, billing concerns, vendor dependence, and debugging complexity. I think the advantages outweigh the disadvantages if I keep the scope 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supports the full software development lifecycle. I can use it for planning, version control, documentation, branching, validation, and deployment support. My final direction is a practical cloud-based risk analytics application, with optional machine learning only if the main dashboard is working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2A"/>
        </a:solidFill>
      </p:bgPr>
    </p:bg>
    <p:spTree>
      <p:nvGrpSpPr>
        <p:cNvPr id="1" name=""/>
        <p:cNvGrpSpPr/>
        <p:nvPr/>
      </p:nvGrpSpPr>
      <p:grpSpPr>
        <a:xfrm>
          <a:off x="0" y="0"/>
          <a:ext cx="0" cy="0"/>
          <a:chOff x="0" y="0"/>
          <a:chExt cx="0" cy="0"/>
        </a:xfrm>
      </p:grpSpPr>
      <p:pic>
        <p:nvPicPr>
          <p:cNvPr id="2" name="Image 0" descr="/mnt/data/hero_wid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1170432"/>
            <a:ext cx="6217920" cy="96012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Proactive CFPB Complaint Monitoring</a:t>
            </a:r>
            <a:endParaRPr lang="en-US" sz="3400" dirty="0"/>
          </a:p>
        </p:txBody>
      </p:sp>
      <p:sp>
        <p:nvSpPr>
          <p:cNvPr id="4" name="Text 1"/>
          <p:cNvSpPr/>
          <p:nvPr/>
        </p:nvSpPr>
        <p:spPr>
          <a:xfrm>
            <a:off x="694944" y="2304288"/>
            <a:ext cx="5394960" cy="329184"/>
          </a:xfrm>
          <a:prstGeom prst="rect">
            <a:avLst/>
          </a:prstGeom>
          <a:noFill/>
          <a:ln/>
        </p:spPr>
        <p:txBody>
          <a:bodyPr wrap="square" lIns="0" tIns="0" rIns="0" bIns="0" rtlCol="0" anchor="ctr">
            <a:normAutofit/>
          </a:bodyPr>
          <a:lstStyle/>
          <a:p>
            <a:pPr indent="0" marL="0">
              <a:buNone/>
            </a:pPr>
            <a:r>
              <a:rPr lang="en-US" sz="1450" dirty="0">
                <a:solidFill>
                  <a:srgbClr val="D6F7FB"/>
                </a:solidFill>
              </a:rPr>
              <a:t>Functional specification for a cloud-native risk analytics application</a:t>
            </a:r>
            <a:endParaRPr lang="en-US" sz="1450" dirty="0"/>
          </a:p>
        </p:txBody>
      </p:sp>
      <p:sp>
        <p:nvSpPr>
          <p:cNvPr id="5" name="Shape 2"/>
          <p:cNvSpPr/>
          <p:nvPr/>
        </p:nvSpPr>
        <p:spPr>
          <a:xfrm>
            <a:off x="694944" y="2788920"/>
            <a:ext cx="2011680" cy="0"/>
          </a:xfrm>
          <a:prstGeom prst="line">
            <a:avLst/>
          </a:prstGeom>
          <a:noFill/>
          <a:ln w="38100">
            <a:solidFill>
              <a:srgbClr val="52D6E0"/>
            </a:solidFill>
            <a:prstDash val="solid"/>
          </a:ln>
        </p:spPr>
      </p:sp>
      <p:sp>
        <p:nvSpPr>
          <p:cNvPr id="6" name="Shape 3"/>
          <p:cNvSpPr/>
          <p:nvPr/>
        </p:nvSpPr>
        <p:spPr>
          <a:xfrm>
            <a:off x="694944" y="3054096"/>
            <a:ext cx="1143000" cy="292608"/>
          </a:xfrm>
          <a:prstGeom prst="roundRect">
            <a:avLst>
              <a:gd name="adj" fmla="val 25000"/>
            </a:avLst>
          </a:prstGeom>
          <a:solidFill>
            <a:srgbClr val="D6F7FB"/>
          </a:solidFill>
          <a:ln w="12700">
            <a:solidFill>
              <a:srgbClr val="D6F7FB"/>
            </a:solidFill>
            <a:prstDash val="solid"/>
          </a:ln>
        </p:spPr>
      </p:sp>
      <p:sp>
        <p:nvSpPr>
          <p:cNvPr id="7" name="Text 4"/>
          <p:cNvSpPr/>
          <p:nvPr/>
        </p:nvSpPr>
        <p:spPr>
          <a:xfrm>
            <a:off x="768096" y="311353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0B172A"/>
                </a:solidFill>
              </a:rPr>
              <a:t>MSDS 434</a:t>
            </a:r>
            <a:endParaRPr lang="en-US" sz="850" dirty="0"/>
          </a:p>
        </p:txBody>
      </p:sp>
      <p:sp>
        <p:nvSpPr>
          <p:cNvPr id="8" name="Shape 5"/>
          <p:cNvSpPr/>
          <p:nvPr/>
        </p:nvSpPr>
        <p:spPr>
          <a:xfrm>
            <a:off x="1965960" y="3054096"/>
            <a:ext cx="2057400" cy="292608"/>
          </a:xfrm>
          <a:prstGeom prst="roundRect">
            <a:avLst>
              <a:gd name="adj" fmla="val 25000"/>
            </a:avLst>
          </a:prstGeom>
          <a:solidFill>
            <a:srgbClr val="D6F7FB"/>
          </a:solidFill>
          <a:ln w="12700">
            <a:solidFill>
              <a:srgbClr val="D6F7FB"/>
            </a:solidFill>
            <a:prstDash val="solid"/>
          </a:ln>
        </p:spPr>
      </p:sp>
      <p:sp>
        <p:nvSpPr>
          <p:cNvPr id="9" name="Text 6"/>
          <p:cNvSpPr/>
          <p:nvPr/>
        </p:nvSpPr>
        <p:spPr>
          <a:xfrm>
            <a:off x="2039112" y="3113532"/>
            <a:ext cx="1911096" cy="164592"/>
          </a:xfrm>
          <a:prstGeom prst="rect">
            <a:avLst/>
          </a:prstGeom>
          <a:noFill/>
          <a:ln/>
        </p:spPr>
        <p:txBody>
          <a:bodyPr wrap="square" lIns="0" tIns="0" rIns="0" bIns="0" rtlCol="0" anchor="ctr">
            <a:normAutofit/>
          </a:bodyPr>
          <a:lstStyle/>
          <a:p>
            <a:pPr algn="ctr" indent="0" marL="0">
              <a:buNone/>
            </a:pPr>
            <a:r>
              <a:rPr lang="en-US" sz="850" b="1" dirty="0">
                <a:solidFill>
                  <a:srgbClr val="0B172A"/>
                </a:solidFill>
              </a:rPr>
              <a:t>Functional Specification</a:t>
            </a:r>
            <a:endParaRPr lang="en-US" sz="850" dirty="0"/>
          </a:p>
        </p:txBody>
      </p:sp>
      <p:sp>
        <p:nvSpPr>
          <p:cNvPr id="10" name="Text 7"/>
          <p:cNvSpPr/>
          <p:nvPr/>
        </p:nvSpPr>
        <p:spPr>
          <a:xfrm>
            <a:off x="694944" y="6272784"/>
            <a:ext cx="2926080" cy="201168"/>
          </a:xfrm>
          <a:prstGeom prst="rect">
            <a:avLst/>
          </a:prstGeom>
          <a:noFill/>
          <a:ln/>
        </p:spPr>
        <p:txBody>
          <a:bodyPr wrap="square" lIns="0" tIns="0" rIns="0" bIns="0" rtlCol="0" anchor="ctr"/>
          <a:lstStyle/>
          <a:p>
            <a:pPr indent="0" marL="0">
              <a:buNone/>
            </a:pPr>
            <a:r>
              <a:rPr lang="en-US" sz="950" dirty="0">
                <a:solidFill>
                  <a:srgbClr val="C7D2FE"/>
                </a:solidFill>
              </a:rPr>
              <a:t>Jazz Weller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5623560" cy="411480"/>
          </a:xfrm>
          <a:prstGeom prst="rect">
            <a:avLst/>
          </a:prstGeom>
          <a:noFill/>
          <a:ln/>
        </p:spPr>
        <p:txBody>
          <a:bodyPr wrap="square" lIns="0" tIns="0" rIns="0" bIns="0" rtlCol="0" anchor="ctr">
            <a:normAutofit/>
          </a:bodyPr>
          <a:lstStyle/>
          <a:p>
            <a:pPr indent="0" marL="0">
              <a:buNone/>
            </a:pPr>
            <a:r>
              <a:rPr lang="en-US" sz="2400" b="1" dirty="0">
                <a:solidFill>
                  <a:srgbClr val="0B172A"/>
                </a:solidFill>
                <a:latin typeface="Aptos Display" pitchFamily="34" charset="0"/>
                <a:ea typeface="Aptos Display" pitchFamily="34" charset="-122"/>
                <a:cs typeface="Aptos Display" pitchFamily="34" charset="-120"/>
              </a:rPr>
              <a:t>Project purpose</a:t>
            </a:r>
            <a:endParaRPr lang="en-US" sz="2400" dirty="0"/>
          </a:p>
        </p:txBody>
      </p:sp>
      <p:sp>
        <p:nvSpPr>
          <p:cNvPr id="3" name="Text 1"/>
          <p:cNvSpPr/>
          <p:nvPr/>
        </p:nvSpPr>
        <p:spPr>
          <a:xfrm>
            <a:off x="548640" y="804672"/>
            <a:ext cx="5623560" cy="274320"/>
          </a:xfrm>
          <a:prstGeom prst="rect">
            <a:avLst/>
          </a:prstGeom>
          <a:noFill/>
          <a:ln/>
        </p:spPr>
        <p:txBody>
          <a:bodyPr wrap="square" lIns="0" tIns="0" rIns="0" bIns="0" rtlCol="0" anchor="ctr">
            <a:normAutofit/>
          </a:bodyPr>
          <a:lstStyle/>
          <a:p>
            <a:pPr indent="0" marL="0">
              <a:buNone/>
            </a:pPr>
            <a:r>
              <a:rPr lang="en-US" sz="1250" dirty="0">
                <a:solidFill>
                  <a:srgbClr val="64748B"/>
                </a:solidFill>
              </a:rPr>
              <a:t>Move complaint monitoring from reactive review prep to proactive risk awareness.</a:t>
            </a:r>
            <a:endParaRPr lang="en-US" sz="1250" dirty="0"/>
          </a:p>
        </p:txBody>
      </p:sp>
      <p:sp>
        <p:nvSpPr>
          <p:cNvPr id="4" name="Shape 2"/>
          <p:cNvSpPr/>
          <p:nvPr/>
        </p:nvSpPr>
        <p:spPr>
          <a:xfrm>
            <a:off x="548640" y="1143000"/>
            <a:ext cx="1920240" cy="0"/>
          </a:xfrm>
          <a:prstGeom prst="line">
            <a:avLst/>
          </a:prstGeom>
          <a:noFill/>
          <a:ln w="31750">
            <a:solidFill>
              <a:srgbClr val="0FB7C2"/>
            </a:solidFill>
            <a:prstDash val="solid"/>
          </a:ln>
        </p:spPr>
      </p:sp>
      <p:pic>
        <p:nvPicPr>
          <p:cNvPr id="5" name="Image 0" descr="/mnt/data/risk_vertical.jpg">    </p:cNvPr>
          <p:cNvPicPr>
            <a:picLocks noChangeAspect="1"/>
          </p:cNvPicPr>
          <p:nvPr/>
        </p:nvPicPr>
        <p:blipFill>
          <a:blip r:embed="rId1"/>
          <a:stretch>
            <a:fillRect/>
          </a:stretch>
        </p:blipFill>
        <p:spPr>
          <a:xfrm>
            <a:off x="6492240" y="0"/>
            <a:ext cx="5696712" cy="6858000"/>
          </a:xfrm>
          <a:prstGeom prst="rect">
            <a:avLst/>
          </a:prstGeom>
        </p:spPr>
      </p:pic>
      <p:sp>
        <p:nvSpPr>
          <p:cNvPr id="6" name="Text 3"/>
          <p:cNvSpPr/>
          <p:nvPr/>
        </p:nvSpPr>
        <p:spPr>
          <a:xfrm>
            <a:off x="594360" y="1536192"/>
            <a:ext cx="1188720" cy="256032"/>
          </a:xfrm>
          <a:prstGeom prst="rect">
            <a:avLst/>
          </a:prstGeom>
          <a:noFill/>
          <a:ln/>
        </p:spPr>
        <p:txBody>
          <a:bodyPr wrap="square" lIns="0" tIns="0" rIns="0" bIns="0" rtlCol="0" anchor="ctr">
            <a:normAutofit/>
          </a:bodyPr>
          <a:lstStyle/>
          <a:p>
            <a:pPr indent="0" marL="0">
              <a:buNone/>
            </a:pPr>
            <a:r>
              <a:rPr lang="en-US" sz="1100" b="1" dirty="0">
                <a:solidFill>
                  <a:srgbClr val="E96060"/>
                </a:solidFill>
              </a:rPr>
              <a:t>Problem</a:t>
            </a:r>
            <a:endParaRPr lang="en-US" sz="1100" dirty="0"/>
          </a:p>
        </p:txBody>
      </p:sp>
      <p:sp>
        <p:nvSpPr>
          <p:cNvPr id="7" name="Text 4"/>
          <p:cNvSpPr/>
          <p:nvPr/>
        </p:nvSpPr>
        <p:spPr>
          <a:xfrm>
            <a:off x="594360" y="1901952"/>
            <a:ext cx="4846320" cy="713232"/>
          </a:xfrm>
          <a:prstGeom prst="rect">
            <a:avLst/>
          </a:prstGeom>
          <a:noFill/>
          <a:ln/>
        </p:spPr>
        <p:txBody>
          <a:bodyPr wrap="square" lIns="0" tIns="0" rIns="0" bIns="0" rtlCol="0" anchor="ctr">
            <a:normAutofit/>
          </a:bodyPr>
          <a:lstStyle/>
          <a:p>
            <a:pPr indent="0" marL="0">
              <a:buNone/>
            </a:pPr>
            <a:r>
              <a:rPr lang="en-US" sz="1800" b="1" dirty="0">
                <a:solidFill>
                  <a:srgbClr val="0B172A"/>
                </a:solidFill>
              </a:rPr>
              <a:t>Regulatory and audit reviews can become stressful when teams need to explain complaint trends after the fact.</a:t>
            </a:r>
            <a:endParaRPr lang="en-US" sz="1800" dirty="0"/>
          </a:p>
        </p:txBody>
      </p:sp>
      <p:sp>
        <p:nvSpPr>
          <p:cNvPr id="8" name="Text 5"/>
          <p:cNvSpPr/>
          <p:nvPr/>
        </p:nvSpPr>
        <p:spPr>
          <a:xfrm>
            <a:off x="594360" y="2852928"/>
            <a:ext cx="4800600" cy="685800"/>
          </a:xfrm>
          <a:prstGeom prst="rect">
            <a:avLst/>
          </a:prstGeom>
          <a:noFill/>
          <a:ln/>
        </p:spPr>
        <p:txBody>
          <a:bodyPr wrap="square" lIns="0" tIns="0" rIns="0" bIns="0" rtlCol="0" anchor="ctr">
            <a:normAutofit/>
          </a:bodyPr>
          <a:lstStyle/>
          <a:p>
            <a:pPr indent="0" marL="0">
              <a:buNone/>
            </a:pPr>
            <a:r>
              <a:rPr lang="en-US" sz="1300" dirty="0">
                <a:solidFill>
                  <a:srgbClr val="64748B"/>
                </a:solidFill>
              </a:rPr>
              <a:t>The application will surface patterns in complaint volume, issue types, company responses, and timeliness so teams can monitor risk areas earlier.</a:t>
            </a:r>
            <a:endParaRPr lang="en-US" sz="1300" dirty="0"/>
          </a:p>
        </p:txBody>
      </p:sp>
      <p:sp>
        <p:nvSpPr>
          <p:cNvPr id="9" name="Shape 6"/>
          <p:cNvSpPr/>
          <p:nvPr/>
        </p:nvSpPr>
        <p:spPr>
          <a:xfrm>
            <a:off x="594360" y="4069080"/>
            <a:ext cx="1508760" cy="914400"/>
          </a:xfrm>
          <a:prstGeom prst="roundRect">
            <a:avLst>
              <a:gd name="adj" fmla="val 12000"/>
            </a:avLst>
          </a:prstGeom>
          <a:solidFill>
            <a:srgbClr val="F5F8FB"/>
          </a:solidFill>
          <a:ln w="12700">
            <a:solidFill>
              <a:srgbClr val="E2E8F0"/>
            </a:solidFill>
            <a:prstDash val="solid"/>
          </a:ln>
        </p:spPr>
      </p:sp>
      <p:sp>
        <p:nvSpPr>
          <p:cNvPr id="10" name="Text 7"/>
          <p:cNvSpPr/>
          <p:nvPr/>
        </p:nvSpPr>
        <p:spPr>
          <a:xfrm>
            <a:off x="758952" y="4215384"/>
            <a:ext cx="1179576" cy="320040"/>
          </a:xfrm>
          <a:prstGeom prst="rect">
            <a:avLst/>
          </a:prstGeom>
          <a:noFill/>
          <a:ln/>
        </p:spPr>
        <p:txBody>
          <a:bodyPr wrap="square" lIns="0" tIns="0" rIns="0" bIns="0" rtlCol="0" anchor="ctr">
            <a:normAutofit/>
          </a:bodyPr>
          <a:lstStyle/>
          <a:p>
            <a:pPr algn="ctr" indent="0" marL="0">
              <a:buNone/>
            </a:pPr>
            <a:r>
              <a:rPr lang="en-US" sz="2100" b="1" dirty="0">
                <a:solidFill>
                  <a:srgbClr val="0FB7C2"/>
                </a:solidFill>
              </a:rPr>
              <a:t>Trend</a:t>
            </a:r>
            <a:endParaRPr lang="en-US" sz="2100" dirty="0"/>
          </a:p>
        </p:txBody>
      </p:sp>
      <p:sp>
        <p:nvSpPr>
          <p:cNvPr id="11" name="Text 8"/>
          <p:cNvSpPr/>
          <p:nvPr/>
        </p:nvSpPr>
        <p:spPr>
          <a:xfrm>
            <a:off x="731520" y="4599432"/>
            <a:ext cx="1234440"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Complaint volume</a:t>
            </a:r>
            <a:endParaRPr lang="en-US" sz="920" dirty="0"/>
          </a:p>
        </p:txBody>
      </p:sp>
      <p:sp>
        <p:nvSpPr>
          <p:cNvPr id="12" name="Shape 9"/>
          <p:cNvSpPr/>
          <p:nvPr/>
        </p:nvSpPr>
        <p:spPr>
          <a:xfrm>
            <a:off x="2304288" y="4069080"/>
            <a:ext cx="1508760" cy="914400"/>
          </a:xfrm>
          <a:prstGeom prst="roundRect">
            <a:avLst>
              <a:gd name="adj" fmla="val 12000"/>
            </a:avLst>
          </a:prstGeom>
          <a:solidFill>
            <a:srgbClr val="F5F8FB"/>
          </a:solidFill>
          <a:ln w="12700">
            <a:solidFill>
              <a:srgbClr val="E2E8F0"/>
            </a:solidFill>
            <a:prstDash val="solid"/>
          </a:ln>
        </p:spPr>
      </p:sp>
      <p:sp>
        <p:nvSpPr>
          <p:cNvPr id="13" name="Text 10"/>
          <p:cNvSpPr/>
          <p:nvPr/>
        </p:nvSpPr>
        <p:spPr>
          <a:xfrm>
            <a:off x="2468880" y="4215384"/>
            <a:ext cx="1179576" cy="320040"/>
          </a:xfrm>
          <a:prstGeom prst="rect">
            <a:avLst/>
          </a:prstGeom>
          <a:noFill/>
          <a:ln/>
        </p:spPr>
        <p:txBody>
          <a:bodyPr wrap="square" lIns="0" tIns="0" rIns="0" bIns="0" rtlCol="0" anchor="ctr">
            <a:normAutofit/>
          </a:bodyPr>
          <a:lstStyle/>
          <a:p>
            <a:pPr algn="ctr" indent="0" marL="0">
              <a:buNone/>
            </a:pPr>
            <a:r>
              <a:rPr lang="en-US" sz="2100" b="1" dirty="0">
                <a:solidFill>
                  <a:srgbClr val="2B6CB0"/>
                </a:solidFill>
              </a:rPr>
              <a:t>Monitor</a:t>
            </a:r>
            <a:endParaRPr lang="en-US" sz="2100" dirty="0"/>
          </a:p>
        </p:txBody>
      </p:sp>
      <p:sp>
        <p:nvSpPr>
          <p:cNvPr id="14" name="Text 11"/>
          <p:cNvSpPr/>
          <p:nvPr/>
        </p:nvSpPr>
        <p:spPr>
          <a:xfrm>
            <a:off x="2441448" y="4599432"/>
            <a:ext cx="1234440"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Response behavior</a:t>
            </a:r>
            <a:endParaRPr lang="en-US" sz="920" dirty="0"/>
          </a:p>
        </p:txBody>
      </p:sp>
      <p:sp>
        <p:nvSpPr>
          <p:cNvPr id="15" name="Shape 12"/>
          <p:cNvSpPr/>
          <p:nvPr/>
        </p:nvSpPr>
        <p:spPr>
          <a:xfrm>
            <a:off x="4014216" y="4069080"/>
            <a:ext cx="1508760" cy="914400"/>
          </a:xfrm>
          <a:prstGeom prst="roundRect">
            <a:avLst>
              <a:gd name="adj" fmla="val 12000"/>
            </a:avLst>
          </a:prstGeom>
          <a:solidFill>
            <a:srgbClr val="F5F8FB"/>
          </a:solidFill>
          <a:ln w="12700">
            <a:solidFill>
              <a:srgbClr val="E2E8F0"/>
            </a:solidFill>
            <a:prstDash val="solid"/>
          </a:ln>
        </p:spPr>
      </p:sp>
      <p:sp>
        <p:nvSpPr>
          <p:cNvPr id="16" name="Text 13"/>
          <p:cNvSpPr/>
          <p:nvPr/>
        </p:nvSpPr>
        <p:spPr>
          <a:xfrm>
            <a:off x="4178808" y="4215384"/>
            <a:ext cx="1179576" cy="320040"/>
          </a:xfrm>
          <a:prstGeom prst="rect">
            <a:avLst/>
          </a:prstGeom>
          <a:noFill/>
          <a:ln/>
        </p:spPr>
        <p:txBody>
          <a:bodyPr wrap="square" lIns="0" tIns="0" rIns="0" bIns="0" rtlCol="0" anchor="ctr">
            <a:normAutofit/>
          </a:bodyPr>
          <a:lstStyle/>
          <a:p>
            <a:pPr algn="ctr" indent="0" marL="0">
              <a:buNone/>
            </a:pPr>
            <a:r>
              <a:rPr lang="en-US" sz="2100" b="1" dirty="0">
                <a:solidFill>
                  <a:srgbClr val="E96060"/>
                </a:solidFill>
              </a:rPr>
              <a:t>Flag</a:t>
            </a:r>
            <a:endParaRPr lang="en-US" sz="2100" dirty="0"/>
          </a:p>
        </p:txBody>
      </p:sp>
      <p:sp>
        <p:nvSpPr>
          <p:cNvPr id="17" name="Text 14"/>
          <p:cNvSpPr/>
          <p:nvPr/>
        </p:nvSpPr>
        <p:spPr>
          <a:xfrm>
            <a:off x="4151376" y="4599432"/>
            <a:ext cx="1234440"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Emerging issues</a:t>
            </a:r>
            <a:endParaRPr lang="en-US" sz="920" dirty="0"/>
          </a:p>
        </p:txBody>
      </p:sp>
      <p:sp>
        <p:nvSpPr>
          <p:cNvPr id="18" name="Text 15"/>
          <p:cNvSpPr/>
          <p:nvPr/>
        </p:nvSpPr>
        <p:spPr>
          <a:xfrm>
            <a:off x="548640" y="6473952"/>
            <a:ext cx="5303520" cy="201168"/>
          </a:xfrm>
          <a:prstGeom prst="rect">
            <a:avLst/>
          </a:prstGeom>
          <a:noFill/>
          <a:ln/>
        </p:spPr>
        <p:txBody>
          <a:bodyPr wrap="square" lIns="0" tIns="0" rIns="0" bIns="0" rtlCol="0" anchor="ctr">
            <a:normAutofit/>
          </a:bodyP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A"/>
        </a:solidFill>
      </p:bgPr>
    </p:bg>
    <p:spTree>
      <p:nvGrpSpPr>
        <p:cNvPr id="1" name=""/>
        <p:cNvGrpSpPr/>
        <p:nvPr/>
      </p:nvGrpSpPr>
      <p:grpSpPr>
        <a:xfrm>
          <a:off x="0" y="0"/>
          <a:ext cx="0" cy="0"/>
          <a:chOff x="0" y="0"/>
          <a:chExt cx="0" cy="0"/>
        </a:xfrm>
      </p:grpSpPr>
      <p:pic>
        <p:nvPicPr>
          <p:cNvPr id="2" name="Image 0" descr="/mnt/data/arch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420624"/>
            <a:ext cx="749808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Intended users</a:t>
            </a:r>
            <a:endParaRPr lang="en-US" sz="2500" dirty="0"/>
          </a:p>
        </p:txBody>
      </p:sp>
      <p:sp>
        <p:nvSpPr>
          <p:cNvPr id="4" name="Text 1"/>
          <p:cNvSpPr/>
          <p:nvPr/>
        </p:nvSpPr>
        <p:spPr>
          <a:xfrm>
            <a:off x="566928" y="896112"/>
            <a:ext cx="7955280" cy="292608"/>
          </a:xfrm>
          <a:prstGeom prst="rect">
            <a:avLst/>
          </a:prstGeom>
          <a:noFill/>
          <a:ln/>
        </p:spPr>
        <p:txBody>
          <a:bodyPr wrap="square" lIns="0" tIns="0" rIns="0" bIns="0" rtlCol="0" anchor="ctr">
            <a:normAutofit/>
          </a:bodyPr>
          <a:lstStyle/>
          <a:p>
            <a:pPr indent="0" marL="0">
              <a:buNone/>
            </a:pPr>
            <a:r>
              <a:rPr lang="en-US" sz="1250" dirty="0">
                <a:solidFill>
                  <a:srgbClr val="C7D2FE"/>
                </a:solidFill>
              </a:rPr>
              <a:t>Designed for practical decision support, not just model output.</a:t>
            </a:r>
            <a:endParaRPr lang="en-US" sz="1250" dirty="0"/>
          </a:p>
        </p:txBody>
      </p:sp>
      <p:sp>
        <p:nvSpPr>
          <p:cNvPr id="5" name="Shape 2"/>
          <p:cNvSpPr/>
          <p:nvPr/>
        </p:nvSpPr>
        <p:spPr>
          <a:xfrm>
            <a:off x="566928" y="1243584"/>
            <a:ext cx="1920240" cy="0"/>
          </a:xfrm>
          <a:prstGeom prst="line">
            <a:avLst/>
          </a:prstGeom>
          <a:noFill/>
          <a:ln w="31750">
            <a:solidFill>
              <a:srgbClr val="52D6E0"/>
            </a:solidFill>
            <a:prstDash val="solid"/>
          </a:ln>
        </p:spPr>
      </p:sp>
      <p:sp>
        <p:nvSpPr>
          <p:cNvPr id="6" name="Shape 3"/>
          <p:cNvSpPr/>
          <p:nvPr/>
        </p:nvSpPr>
        <p:spPr>
          <a:xfrm>
            <a:off x="685800" y="1691640"/>
            <a:ext cx="2606040" cy="1371600"/>
          </a:xfrm>
          <a:prstGeom prst="roundRect">
            <a:avLst>
              <a:gd name="adj" fmla="val 8000"/>
            </a:avLst>
          </a:prstGeom>
          <a:solidFill>
            <a:srgbClr val="13294B">
              <a:alpha val="94000"/>
            </a:srgbClr>
          </a:solidFill>
          <a:ln w="12700">
            <a:solidFill>
              <a:srgbClr val="2D4A72">
                <a:alpha val="80000"/>
              </a:srgbClr>
            </a:solidFill>
            <a:prstDash val="solid"/>
          </a:ln>
        </p:spPr>
      </p:sp>
      <p:sp>
        <p:nvSpPr>
          <p:cNvPr id="7" name="Shape 4"/>
          <p:cNvSpPr/>
          <p:nvPr/>
        </p:nvSpPr>
        <p:spPr>
          <a:xfrm>
            <a:off x="832104" y="1892808"/>
            <a:ext cx="640080" cy="0"/>
          </a:xfrm>
          <a:prstGeom prst="line">
            <a:avLst/>
          </a:prstGeom>
          <a:noFill/>
          <a:ln w="25400">
            <a:solidFill>
              <a:srgbClr val="52D6E0"/>
            </a:solidFill>
            <a:prstDash val="solid"/>
          </a:ln>
        </p:spPr>
      </p:sp>
      <p:sp>
        <p:nvSpPr>
          <p:cNvPr id="8" name="Text 5"/>
          <p:cNvSpPr/>
          <p:nvPr/>
        </p:nvSpPr>
        <p:spPr>
          <a:xfrm>
            <a:off x="832104" y="2039112"/>
            <a:ext cx="23134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Risk analysts</a:t>
            </a:r>
            <a:endParaRPr lang="en-US" sz="1300" dirty="0"/>
          </a:p>
        </p:txBody>
      </p:sp>
      <p:sp>
        <p:nvSpPr>
          <p:cNvPr id="9" name="Text 6"/>
          <p:cNvSpPr/>
          <p:nvPr/>
        </p:nvSpPr>
        <p:spPr>
          <a:xfrm>
            <a:off x="832104" y="2404872"/>
            <a:ext cx="2313432" cy="54864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Monitor products, issues, and complaint categories that may require closer review.</a:t>
            </a:r>
            <a:endParaRPr lang="en-US" sz="1020" dirty="0"/>
          </a:p>
        </p:txBody>
      </p:sp>
      <p:sp>
        <p:nvSpPr>
          <p:cNvPr id="10" name="Shape 7"/>
          <p:cNvSpPr/>
          <p:nvPr/>
        </p:nvSpPr>
        <p:spPr>
          <a:xfrm>
            <a:off x="3611880" y="1691640"/>
            <a:ext cx="2606040" cy="1371600"/>
          </a:xfrm>
          <a:prstGeom prst="roundRect">
            <a:avLst>
              <a:gd name="adj" fmla="val 8000"/>
            </a:avLst>
          </a:prstGeom>
          <a:solidFill>
            <a:srgbClr val="13294B">
              <a:alpha val="94000"/>
            </a:srgbClr>
          </a:solidFill>
          <a:ln w="12700">
            <a:solidFill>
              <a:srgbClr val="2D4A72">
                <a:alpha val="80000"/>
              </a:srgbClr>
            </a:solidFill>
            <a:prstDash val="solid"/>
          </a:ln>
        </p:spPr>
      </p:sp>
      <p:sp>
        <p:nvSpPr>
          <p:cNvPr id="11" name="Shape 8"/>
          <p:cNvSpPr/>
          <p:nvPr/>
        </p:nvSpPr>
        <p:spPr>
          <a:xfrm>
            <a:off x="3758184" y="1892808"/>
            <a:ext cx="640080" cy="0"/>
          </a:xfrm>
          <a:prstGeom prst="line">
            <a:avLst/>
          </a:prstGeom>
          <a:noFill/>
          <a:ln w="25400">
            <a:solidFill>
              <a:srgbClr val="F4B740"/>
            </a:solidFill>
            <a:prstDash val="solid"/>
          </a:ln>
        </p:spPr>
      </p:sp>
      <p:sp>
        <p:nvSpPr>
          <p:cNvPr id="12" name="Text 9"/>
          <p:cNvSpPr/>
          <p:nvPr/>
        </p:nvSpPr>
        <p:spPr>
          <a:xfrm>
            <a:off x="3758184" y="2039112"/>
            <a:ext cx="23134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Compliance teams</a:t>
            </a:r>
            <a:endParaRPr lang="en-US" sz="1300" dirty="0"/>
          </a:p>
        </p:txBody>
      </p:sp>
      <p:sp>
        <p:nvSpPr>
          <p:cNvPr id="13" name="Text 10"/>
          <p:cNvSpPr/>
          <p:nvPr/>
        </p:nvSpPr>
        <p:spPr>
          <a:xfrm>
            <a:off x="3758184" y="2404872"/>
            <a:ext cx="2313432" cy="54864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Understand patterns that may point to regulatory attention or control gaps.</a:t>
            </a:r>
            <a:endParaRPr lang="en-US" sz="1020" dirty="0"/>
          </a:p>
        </p:txBody>
      </p:sp>
      <p:sp>
        <p:nvSpPr>
          <p:cNvPr id="14" name="Shape 11"/>
          <p:cNvSpPr/>
          <p:nvPr/>
        </p:nvSpPr>
        <p:spPr>
          <a:xfrm>
            <a:off x="6537960" y="1691640"/>
            <a:ext cx="2606040" cy="1371600"/>
          </a:xfrm>
          <a:prstGeom prst="roundRect">
            <a:avLst>
              <a:gd name="adj" fmla="val 8000"/>
            </a:avLst>
          </a:prstGeom>
          <a:solidFill>
            <a:srgbClr val="13294B">
              <a:alpha val="94000"/>
            </a:srgbClr>
          </a:solidFill>
          <a:ln w="12700">
            <a:solidFill>
              <a:srgbClr val="2D4A72">
                <a:alpha val="80000"/>
              </a:srgbClr>
            </a:solidFill>
            <a:prstDash val="solid"/>
          </a:ln>
        </p:spPr>
      </p:sp>
      <p:sp>
        <p:nvSpPr>
          <p:cNvPr id="15" name="Shape 12"/>
          <p:cNvSpPr/>
          <p:nvPr/>
        </p:nvSpPr>
        <p:spPr>
          <a:xfrm>
            <a:off x="6684264" y="1892808"/>
            <a:ext cx="640080" cy="0"/>
          </a:xfrm>
          <a:prstGeom prst="line">
            <a:avLst/>
          </a:prstGeom>
          <a:noFill/>
          <a:ln w="25400">
            <a:solidFill>
              <a:srgbClr val="49B778"/>
            </a:solidFill>
            <a:prstDash val="solid"/>
          </a:ln>
        </p:spPr>
      </p:sp>
      <p:sp>
        <p:nvSpPr>
          <p:cNvPr id="16" name="Text 13"/>
          <p:cNvSpPr/>
          <p:nvPr/>
        </p:nvSpPr>
        <p:spPr>
          <a:xfrm>
            <a:off x="6684264" y="2039112"/>
            <a:ext cx="23134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Complaint operations</a:t>
            </a:r>
            <a:endParaRPr lang="en-US" sz="1300" dirty="0"/>
          </a:p>
        </p:txBody>
      </p:sp>
      <p:sp>
        <p:nvSpPr>
          <p:cNvPr id="17" name="Text 14"/>
          <p:cNvSpPr/>
          <p:nvPr/>
        </p:nvSpPr>
        <p:spPr>
          <a:xfrm>
            <a:off x="6684264" y="2404872"/>
            <a:ext cx="2313432" cy="54864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Track response timeliness, response outcomes, and operational handling metrics.</a:t>
            </a:r>
            <a:endParaRPr lang="en-US" sz="1020" dirty="0"/>
          </a:p>
        </p:txBody>
      </p:sp>
      <p:sp>
        <p:nvSpPr>
          <p:cNvPr id="18" name="Shape 15"/>
          <p:cNvSpPr/>
          <p:nvPr/>
        </p:nvSpPr>
        <p:spPr>
          <a:xfrm>
            <a:off x="9464040" y="1691640"/>
            <a:ext cx="2057400" cy="1371600"/>
          </a:xfrm>
          <a:prstGeom prst="roundRect">
            <a:avLst>
              <a:gd name="adj" fmla="val 8000"/>
            </a:avLst>
          </a:prstGeom>
          <a:solidFill>
            <a:srgbClr val="13294B">
              <a:alpha val="94000"/>
            </a:srgbClr>
          </a:solidFill>
          <a:ln w="12700">
            <a:solidFill>
              <a:srgbClr val="2D4A72">
                <a:alpha val="80000"/>
              </a:srgbClr>
            </a:solidFill>
            <a:prstDash val="solid"/>
          </a:ln>
        </p:spPr>
      </p:sp>
      <p:sp>
        <p:nvSpPr>
          <p:cNvPr id="19" name="Shape 16"/>
          <p:cNvSpPr/>
          <p:nvPr/>
        </p:nvSpPr>
        <p:spPr>
          <a:xfrm>
            <a:off x="9610344" y="1892808"/>
            <a:ext cx="640080" cy="0"/>
          </a:xfrm>
          <a:prstGeom prst="line">
            <a:avLst/>
          </a:prstGeom>
          <a:noFill/>
          <a:ln w="25400">
            <a:solidFill>
              <a:srgbClr val="E96060"/>
            </a:solidFill>
            <a:prstDash val="solid"/>
          </a:ln>
        </p:spPr>
      </p:sp>
      <p:sp>
        <p:nvSpPr>
          <p:cNvPr id="20" name="Text 17"/>
          <p:cNvSpPr/>
          <p:nvPr/>
        </p:nvSpPr>
        <p:spPr>
          <a:xfrm>
            <a:off x="9610344" y="2039112"/>
            <a:ext cx="176479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Managers &amp; audit prep</a:t>
            </a:r>
            <a:endParaRPr lang="en-US" sz="1300" dirty="0"/>
          </a:p>
        </p:txBody>
      </p:sp>
      <p:sp>
        <p:nvSpPr>
          <p:cNvPr id="21" name="Text 18"/>
          <p:cNvSpPr/>
          <p:nvPr/>
        </p:nvSpPr>
        <p:spPr>
          <a:xfrm>
            <a:off x="9610344" y="2404872"/>
            <a:ext cx="1764792" cy="54864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Quickly summarize trends and prepare for internal or external review conversations.</a:t>
            </a:r>
            <a:endParaRPr lang="en-US" sz="1020" dirty="0"/>
          </a:p>
        </p:txBody>
      </p:sp>
      <p:sp>
        <p:nvSpPr>
          <p:cNvPr id="22" name="Text 19"/>
          <p:cNvSpPr/>
          <p:nvPr/>
        </p:nvSpPr>
        <p:spPr>
          <a:xfrm>
            <a:off x="914400" y="4407408"/>
            <a:ext cx="10424160" cy="502920"/>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rPr>
              <a:t>User need: a clear, filterable, cloud-accessible view of complaint risk signals.</a:t>
            </a:r>
            <a:endParaRPr lang="en-US" sz="1900" dirty="0"/>
          </a:p>
        </p:txBody>
      </p:sp>
      <p:sp>
        <p:nvSpPr>
          <p:cNvPr id="23" name="Text 20"/>
          <p:cNvSpPr/>
          <p:nvPr/>
        </p:nvSpPr>
        <p:spPr>
          <a:xfrm>
            <a:off x="1920240" y="5047488"/>
            <a:ext cx="8321040" cy="365760"/>
          </a:xfrm>
          <a:prstGeom prst="rect">
            <a:avLst/>
          </a:prstGeom>
          <a:noFill/>
          <a:ln/>
        </p:spPr>
        <p:txBody>
          <a:bodyPr wrap="square" lIns="0" tIns="0" rIns="0" bIns="0" rtlCol="0" anchor="ctr">
            <a:normAutofit/>
          </a:bodyPr>
          <a:lstStyle/>
          <a:p>
            <a:pPr algn="ctr" indent="0" marL="0">
              <a:buNone/>
            </a:pPr>
            <a:r>
              <a:rPr lang="en-US" sz="1350" dirty="0">
                <a:solidFill>
                  <a:srgbClr val="D9E7FA"/>
                </a:solidFill>
              </a:rPr>
              <a:t>The dashboard should help users answer “what is changing, where, and why should we care?”</a:t>
            </a:r>
            <a:endParaRPr lang="en-US" sz="1350" dirty="0"/>
          </a:p>
        </p:txBody>
      </p:sp>
      <p:sp>
        <p:nvSpPr>
          <p:cNvPr id="24" name="Text 21"/>
          <p:cNvSpPr/>
          <p:nvPr/>
        </p:nvSpPr>
        <p:spPr>
          <a:xfrm>
            <a:off x="548640" y="6473952"/>
            <a:ext cx="5303520" cy="201168"/>
          </a:xfrm>
          <a:prstGeom prst="rect">
            <a:avLst/>
          </a:prstGeom>
          <a:noFill/>
          <a:ln/>
        </p:spPr>
        <p:txBody>
          <a:bodyPr wrap="square" lIns="0" tIns="0" rIns="0" bIns="0" rtlCol="0" anchor="ct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5623560" cy="411480"/>
          </a:xfrm>
          <a:prstGeom prst="rect">
            <a:avLst/>
          </a:prstGeom>
          <a:noFill/>
          <a:ln/>
        </p:spPr>
        <p:txBody>
          <a:bodyPr wrap="square" lIns="0" tIns="0" rIns="0" bIns="0" rtlCol="0" anchor="ctr">
            <a:normAutofit/>
          </a:bodyPr>
          <a:lstStyle/>
          <a:p>
            <a:pPr indent="0" marL="0">
              <a:buNone/>
            </a:pPr>
            <a:r>
              <a:rPr lang="en-US" sz="2400" b="1" dirty="0">
                <a:solidFill>
                  <a:srgbClr val="0B172A"/>
                </a:solidFill>
                <a:latin typeface="Aptos Display" pitchFamily="34" charset="0"/>
                <a:ea typeface="Aptos Display" pitchFamily="34" charset="-122"/>
                <a:cs typeface="Aptos Display" pitchFamily="34" charset="-120"/>
              </a:rPr>
              <a:t>Data source &amp; fields</a:t>
            </a:r>
            <a:endParaRPr lang="en-US" sz="2400" dirty="0"/>
          </a:p>
        </p:txBody>
      </p:sp>
      <p:sp>
        <p:nvSpPr>
          <p:cNvPr id="3" name="Text 1"/>
          <p:cNvSpPr/>
          <p:nvPr/>
        </p:nvSpPr>
        <p:spPr>
          <a:xfrm>
            <a:off x="548640" y="804672"/>
            <a:ext cx="5623560" cy="274320"/>
          </a:xfrm>
          <a:prstGeom prst="rect">
            <a:avLst/>
          </a:prstGeom>
          <a:noFill/>
          <a:ln/>
        </p:spPr>
        <p:txBody>
          <a:bodyPr wrap="square" lIns="0" tIns="0" rIns="0" bIns="0" rtlCol="0" anchor="ctr">
            <a:normAutofit/>
          </a:bodyPr>
          <a:lstStyle/>
          <a:p>
            <a:pPr indent="0" marL="0">
              <a:buNone/>
            </a:pPr>
            <a:r>
              <a:rPr lang="en-US" sz="1250" dirty="0">
                <a:solidFill>
                  <a:srgbClr val="64748B"/>
                </a:solidFill>
              </a:rPr>
              <a:t>CFPB Consumer Complaint Database via Google Cloud BigQuery public datasets.</a:t>
            </a:r>
            <a:endParaRPr lang="en-US" sz="1250" dirty="0"/>
          </a:p>
        </p:txBody>
      </p:sp>
      <p:sp>
        <p:nvSpPr>
          <p:cNvPr id="4" name="Shape 2"/>
          <p:cNvSpPr/>
          <p:nvPr/>
        </p:nvSpPr>
        <p:spPr>
          <a:xfrm>
            <a:off x="548640" y="1143000"/>
            <a:ext cx="1920240" cy="0"/>
          </a:xfrm>
          <a:prstGeom prst="line">
            <a:avLst/>
          </a:prstGeom>
          <a:noFill/>
          <a:ln w="31750">
            <a:solidFill>
              <a:srgbClr val="0FB7C2"/>
            </a:solidFill>
            <a:prstDash val="solid"/>
          </a:ln>
        </p:spPr>
      </p:sp>
      <p:pic>
        <p:nvPicPr>
          <p:cNvPr id="5" name="Image 0" descr="/mnt/data/pipeline_wide.jpg">    </p:cNvPr>
          <p:cNvPicPr>
            <a:picLocks noChangeAspect="1"/>
          </p:cNvPicPr>
          <p:nvPr/>
        </p:nvPicPr>
        <p:blipFill>
          <a:blip r:embed="rId1"/>
          <a:stretch>
            <a:fillRect/>
          </a:stretch>
        </p:blipFill>
        <p:spPr>
          <a:xfrm>
            <a:off x="621792" y="1417320"/>
            <a:ext cx="10972800" cy="1965960"/>
          </a:xfrm>
          <a:prstGeom prst="rect">
            <a:avLst/>
          </a:prstGeom>
        </p:spPr>
      </p:pic>
      <p:sp>
        <p:nvSpPr>
          <p:cNvPr id="6" name="Shape 3"/>
          <p:cNvSpPr/>
          <p:nvPr/>
        </p:nvSpPr>
        <p:spPr>
          <a:xfrm>
            <a:off x="640080" y="3794760"/>
            <a:ext cx="1965960" cy="1417320"/>
          </a:xfrm>
          <a:prstGeom prst="roundRect">
            <a:avLst>
              <a:gd name="adj" fmla="val 7742"/>
            </a:avLst>
          </a:prstGeom>
          <a:solidFill>
            <a:srgbClr val="FFFFFF"/>
          </a:solidFill>
          <a:ln w="12700">
            <a:solidFill>
              <a:srgbClr val="E2E8F0"/>
            </a:solidFill>
            <a:prstDash val="solid"/>
          </a:ln>
        </p:spPr>
      </p:sp>
      <p:sp>
        <p:nvSpPr>
          <p:cNvPr id="7" name="Shape 4"/>
          <p:cNvSpPr/>
          <p:nvPr/>
        </p:nvSpPr>
        <p:spPr>
          <a:xfrm>
            <a:off x="786384" y="4014216"/>
            <a:ext cx="658368" cy="0"/>
          </a:xfrm>
          <a:prstGeom prst="line">
            <a:avLst/>
          </a:prstGeom>
          <a:noFill/>
          <a:ln w="25400">
            <a:solidFill>
              <a:srgbClr val="0FB7C2"/>
            </a:solidFill>
            <a:prstDash val="solid"/>
          </a:ln>
        </p:spPr>
      </p:sp>
      <p:sp>
        <p:nvSpPr>
          <p:cNvPr id="8" name="Text 5"/>
          <p:cNvSpPr/>
          <p:nvPr/>
        </p:nvSpPr>
        <p:spPr>
          <a:xfrm>
            <a:off x="786384" y="4178808"/>
            <a:ext cx="167335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Complaint timing</a:t>
            </a:r>
            <a:endParaRPr lang="en-US" sz="1300" dirty="0"/>
          </a:p>
        </p:txBody>
      </p:sp>
      <p:sp>
        <p:nvSpPr>
          <p:cNvPr id="9" name="Text 6"/>
          <p:cNvSpPr/>
          <p:nvPr/>
        </p:nvSpPr>
        <p:spPr>
          <a:xfrm>
            <a:off x="786384" y="4526280"/>
            <a:ext cx="167335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date received</a:t>
            </a:r>
            <a:endParaRPr lang="en-US" sz="1030" dirty="0"/>
          </a:p>
          <a:p>
            <a:pPr indent="0" marL="0">
              <a:buNone/>
            </a:pPr>
            <a:r>
              <a:rPr lang="en-US" sz="1030" dirty="0">
                <a:solidFill>
                  <a:srgbClr val="64748B"/>
                </a:solidFill>
              </a:rPr>
              <a:t>date sent to company</a:t>
            </a:r>
            <a:endParaRPr lang="en-US" sz="1030" dirty="0"/>
          </a:p>
          <a:p>
            <a:pPr indent="0" marL="0">
              <a:buNone/>
            </a:pPr>
            <a:r>
              <a:rPr lang="en-US" sz="1030" dirty="0">
                <a:solidFill>
                  <a:srgbClr val="64748B"/>
                </a:solidFill>
              </a:rPr>
              <a:t>timely response indicator</a:t>
            </a:r>
            <a:endParaRPr lang="en-US" sz="1030" dirty="0"/>
          </a:p>
        </p:txBody>
      </p:sp>
      <p:sp>
        <p:nvSpPr>
          <p:cNvPr id="10" name="Shape 7"/>
          <p:cNvSpPr/>
          <p:nvPr/>
        </p:nvSpPr>
        <p:spPr>
          <a:xfrm>
            <a:off x="2788920" y="3794760"/>
            <a:ext cx="1965960" cy="1417320"/>
          </a:xfrm>
          <a:prstGeom prst="roundRect">
            <a:avLst>
              <a:gd name="adj" fmla="val 7742"/>
            </a:avLst>
          </a:prstGeom>
          <a:solidFill>
            <a:srgbClr val="FFFFFF"/>
          </a:solidFill>
          <a:ln w="12700">
            <a:solidFill>
              <a:srgbClr val="E2E8F0"/>
            </a:solidFill>
            <a:prstDash val="solid"/>
          </a:ln>
        </p:spPr>
      </p:sp>
      <p:sp>
        <p:nvSpPr>
          <p:cNvPr id="11" name="Shape 8"/>
          <p:cNvSpPr/>
          <p:nvPr/>
        </p:nvSpPr>
        <p:spPr>
          <a:xfrm>
            <a:off x="2935224" y="4014216"/>
            <a:ext cx="658368" cy="0"/>
          </a:xfrm>
          <a:prstGeom prst="line">
            <a:avLst/>
          </a:prstGeom>
          <a:noFill/>
          <a:ln w="25400">
            <a:solidFill>
              <a:srgbClr val="2B6CB0"/>
            </a:solidFill>
            <a:prstDash val="solid"/>
          </a:ln>
        </p:spPr>
      </p:sp>
      <p:sp>
        <p:nvSpPr>
          <p:cNvPr id="12" name="Text 9"/>
          <p:cNvSpPr/>
          <p:nvPr/>
        </p:nvSpPr>
        <p:spPr>
          <a:xfrm>
            <a:off x="2935224" y="4178808"/>
            <a:ext cx="167335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Complaint details</a:t>
            </a:r>
            <a:endParaRPr lang="en-US" sz="1300" dirty="0"/>
          </a:p>
        </p:txBody>
      </p:sp>
      <p:sp>
        <p:nvSpPr>
          <p:cNvPr id="13" name="Text 10"/>
          <p:cNvSpPr/>
          <p:nvPr/>
        </p:nvSpPr>
        <p:spPr>
          <a:xfrm>
            <a:off x="2935224" y="4526280"/>
            <a:ext cx="167335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product</a:t>
            </a:r>
            <a:endParaRPr lang="en-US" sz="1030" dirty="0"/>
          </a:p>
          <a:p>
            <a:pPr indent="0" marL="0">
              <a:buNone/>
            </a:pPr>
            <a:r>
              <a:rPr lang="en-US" sz="1030" dirty="0">
                <a:solidFill>
                  <a:srgbClr val="64748B"/>
                </a:solidFill>
              </a:rPr>
              <a:t>sub-product</a:t>
            </a:r>
            <a:endParaRPr lang="en-US" sz="1030" dirty="0"/>
          </a:p>
          <a:p>
            <a:pPr indent="0" marL="0">
              <a:buNone/>
            </a:pPr>
            <a:r>
              <a:rPr lang="en-US" sz="1030" dirty="0">
                <a:solidFill>
                  <a:srgbClr val="64748B"/>
                </a:solidFill>
              </a:rPr>
              <a:t>issue / sub-issue</a:t>
            </a:r>
            <a:endParaRPr lang="en-US" sz="1030" dirty="0"/>
          </a:p>
          <a:p>
            <a:pPr indent="0" marL="0">
              <a:buNone/>
            </a:pPr>
            <a:r>
              <a:rPr lang="en-US" sz="1030" dirty="0">
                <a:solidFill>
                  <a:srgbClr val="64748B"/>
                </a:solidFill>
              </a:rPr>
              <a:t>complaint narrative</a:t>
            </a:r>
            <a:endParaRPr lang="en-US" sz="1030" dirty="0"/>
          </a:p>
        </p:txBody>
      </p:sp>
      <p:sp>
        <p:nvSpPr>
          <p:cNvPr id="14" name="Shape 11"/>
          <p:cNvSpPr/>
          <p:nvPr/>
        </p:nvSpPr>
        <p:spPr>
          <a:xfrm>
            <a:off x="4937760" y="3794760"/>
            <a:ext cx="1965960" cy="1417320"/>
          </a:xfrm>
          <a:prstGeom prst="roundRect">
            <a:avLst>
              <a:gd name="adj" fmla="val 7742"/>
            </a:avLst>
          </a:prstGeom>
          <a:solidFill>
            <a:srgbClr val="FFFFFF"/>
          </a:solidFill>
          <a:ln w="12700">
            <a:solidFill>
              <a:srgbClr val="E2E8F0"/>
            </a:solidFill>
            <a:prstDash val="solid"/>
          </a:ln>
        </p:spPr>
      </p:sp>
      <p:sp>
        <p:nvSpPr>
          <p:cNvPr id="15" name="Shape 12"/>
          <p:cNvSpPr/>
          <p:nvPr/>
        </p:nvSpPr>
        <p:spPr>
          <a:xfrm>
            <a:off x="5084064" y="4014216"/>
            <a:ext cx="658368" cy="0"/>
          </a:xfrm>
          <a:prstGeom prst="line">
            <a:avLst/>
          </a:prstGeom>
          <a:noFill/>
          <a:ln w="25400">
            <a:solidFill>
              <a:srgbClr val="F4B740"/>
            </a:solidFill>
            <a:prstDash val="solid"/>
          </a:ln>
        </p:spPr>
      </p:sp>
      <p:sp>
        <p:nvSpPr>
          <p:cNvPr id="16" name="Text 13"/>
          <p:cNvSpPr/>
          <p:nvPr/>
        </p:nvSpPr>
        <p:spPr>
          <a:xfrm>
            <a:off x="5084064" y="4178808"/>
            <a:ext cx="167335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Entity details</a:t>
            </a:r>
            <a:endParaRPr lang="en-US" sz="1300" dirty="0"/>
          </a:p>
        </p:txBody>
      </p:sp>
      <p:sp>
        <p:nvSpPr>
          <p:cNvPr id="17" name="Text 14"/>
          <p:cNvSpPr/>
          <p:nvPr/>
        </p:nvSpPr>
        <p:spPr>
          <a:xfrm>
            <a:off x="5084064" y="4526280"/>
            <a:ext cx="167335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company</a:t>
            </a:r>
            <a:endParaRPr lang="en-US" sz="1030" dirty="0"/>
          </a:p>
          <a:p>
            <a:pPr indent="0" marL="0">
              <a:buNone/>
            </a:pPr>
            <a:r>
              <a:rPr lang="en-US" sz="1030" dirty="0">
                <a:solidFill>
                  <a:srgbClr val="64748B"/>
                </a:solidFill>
              </a:rPr>
              <a:t>state</a:t>
            </a:r>
            <a:endParaRPr lang="en-US" sz="1030" dirty="0"/>
          </a:p>
          <a:p>
            <a:pPr indent="0" marL="0">
              <a:buNone/>
            </a:pPr>
            <a:r>
              <a:rPr lang="en-US" sz="1030" dirty="0">
                <a:solidFill>
                  <a:srgbClr val="64748B"/>
                </a:solidFill>
              </a:rPr>
              <a:t>ZIP code</a:t>
            </a:r>
            <a:endParaRPr lang="en-US" sz="1030" dirty="0"/>
          </a:p>
          <a:p>
            <a:pPr indent="0" marL="0">
              <a:buNone/>
            </a:pPr>
            <a:r>
              <a:rPr lang="en-US" sz="1030" dirty="0">
                <a:solidFill>
                  <a:srgbClr val="64748B"/>
                </a:solidFill>
              </a:rPr>
              <a:t>submission channel</a:t>
            </a:r>
            <a:endParaRPr lang="en-US" sz="1030" dirty="0"/>
          </a:p>
        </p:txBody>
      </p:sp>
      <p:sp>
        <p:nvSpPr>
          <p:cNvPr id="18" name="Shape 15"/>
          <p:cNvSpPr/>
          <p:nvPr/>
        </p:nvSpPr>
        <p:spPr>
          <a:xfrm>
            <a:off x="7086600" y="3794760"/>
            <a:ext cx="1965960" cy="1417320"/>
          </a:xfrm>
          <a:prstGeom prst="roundRect">
            <a:avLst>
              <a:gd name="adj" fmla="val 7742"/>
            </a:avLst>
          </a:prstGeom>
          <a:solidFill>
            <a:srgbClr val="FFFFFF"/>
          </a:solidFill>
          <a:ln w="12700">
            <a:solidFill>
              <a:srgbClr val="E2E8F0"/>
            </a:solidFill>
            <a:prstDash val="solid"/>
          </a:ln>
        </p:spPr>
      </p:sp>
      <p:sp>
        <p:nvSpPr>
          <p:cNvPr id="19" name="Shape 16"/>
          <p:cNvSpPr/>
          <p:nvPr/>
        </p:nvSpPr>
        <p:spPr>
          <a:xfrm>
            <a:off x="7232904" y="4014216"/>
            <a:ext cx="658368" cy="0"/>
          </a:xfrm>
          <a:prstGeom prst="line">
            <a:avLst/>
          </a:prstGeom>
          <a:noFill/>
          <a:ln w="25400">
            <a:solidFill>
              <a:srgbClr val="49B778"/>
            </a:solidFill>
            <a:prstDash val="solid"/>
          </a:ln>
        </p:spPr>
      </p:sp>
      <p:sp>
        <p:nvSpPr>
          <p:cNvPr id="20" name="Text 17"/>
          <p:cNvSpPr/>
          <p:nvPr/>
        </p:nvSpPr>
        <p:spPr>
          <a:xfrm>
            <a:off x="7232904" y="4178808"/>
            <a:ext cx="167335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Response outcomes</a:t>
            </a:r>
            <a:endParaRPr lang="en-US" sz="1300" dirty="0"/>
          </a:p>
        </p:txBody>
      </p:sp>
      <p:sp>
        <p:nvSpPr>
          <p:cNvPr id="21" name="Text 18"/>
          <p:cNvSpPr/>
          <p:nvPr/>
        </p:nvSpPr>
        <p:spPr>
          <a:xfrm>
            <a:off x="7232904" y="4526280"/>
            <a:ext cx="167335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company response</a:t>
            </a:r>
            <a:endParaRPr lang="en-US" sz="1030" dirty="0"/>
          </a:p>
          <a:p>
            <a:pPr indent="0" marL="0">
              <a:buNone/>
            </a:pPr>
            <a:r>
              <a:rPr lang="en-US" sz="1030" dirty="0">
                <a:solidFill>
                  <a:srgbClr val="64748B"/>
                </a:solidFill>
              </a:rPr>
              <a:t>consumer disputed</a:t>
            </a:r>
            <a:endParaRPr lang="en-US" sz="1030" dirty="0"/>
          </a:p>
          <a:p>
            <a:pPr indent="0" marL="0">
              <a:buNone/>
            </a:pPr>
            <a:r>
              <a:rPr lang="en-US" sz="1030" dirty="0">
                <a:solidFill>
                  <a:srgbClr val="64748B"/>
                </a:solidFill>
              </a:rPr>
              <a:t>closed with / without relief</a:t>
            </a:r>
            <a:endParaRPr lang="en-US" sz="1030" dirty="0"/>
          </a:p>
        </p:txBody>
      </p:sp>
      <p:sp>
        <p:nvSpPr>
          <p:cNvPr id="22" name="Shape 19"/>
          <p:cNvSpPr/>
          <p:nvPr/>
        </p:nvSpPr>
        <p:spPr>
          <a:xfrm>
            <a:off x="9235440" y="3794760"/>
            <a:ext cx="1965960" cy="1417320"/>
          </a:xfrm>
          <a:prstGeom prst="roundRect">
            <a:avLst>
              <a:gd name="adj" fmla="val 7742"/>
            </a:avLst>
          </a:prstGeom>
          <a:solidFill>
            <a:srgbClr val="FFFFFF"/>
          </a:solidFill>
          <a:ln w="12700">
            <a:solidFill>
              <a:srgbClr val="E2E8F0"/>
            </a:solidFill>
            <a:prstDash val="solid"/>
          </a:ln>
        </p:spPr>
      </p:sp>
      <p:sp>
        <p:nvSpPr>
          <p:cNvPr id="23" name="Shape 20"/>
          <p:cNvSpPr/>
          <p:nvPr/>
        </p:nvSpPr>
        <p:spPr>
          <a:xfrm>
            <a:off x="9381744" y="4014216"/>
            <a:ext cx="658368" cy="0"/>
          </a:xfrm>
          <a:prstGeom prst="line">
            <a:avLst/>
          </a:prstGeom>
          <a:noFill/>
          <a:ln w="25400">
            <a:solidFill>
              <a:srgbClr val="E96060"/>
            </a:solidFill>
            <a:prstDash val="solid"/>
          </a:ln>
        </p:spPr>
      </p:sp>
      <p:sp>
        <p:nvSpPr>
          <p:cNvPr id="24" name="Text 21"/>
          <p:cNvSpPr/>
          <p:nvPr/>
        </p:nvSpPr>
        <p:spPr>
          <a:xfrm>
            <a:off x="9381744" y="4178808"/>
            <a:ext cx="167335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Project scope</a:t>
            </a:r>
            <a:endParaRPr lang="en-US" sz="1300" dirty="0"/>
          </a:p>
        </p:txBody>
      </p:sp>
      <p:sp>
        <p:nvSpPr>
          <p:cNvPr id="25" name="Text 22"/>
          <p:cNvSpPr/>
          <p:nvPr/>
        </p:nvSpPr>
        <p:spPr>
          <a:xfrm>
            <a:off x="9381744" y="4526280"/>
            <a:ext cx="167335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Prioritize fields needed for trend, timeliness, and risk monitoring.</a:t>
            </a:r>
            <a:endParaRPr lang="en-US" sz="1030" dirty="0"/>
          </a:p>
        </p:txBody>
      </p:sp>
      <p:sp>
        <p:nvSpPr>
          <p:cNvPr id="26" name="Text 23"/>
          <p:cNvSpPr/>
          <p:nvPr/>
        </p:nvSpPr>
        <p:spPr>
          <a:xfrm>
            <a:off x="548640" y="6473952"/>
            <a:ext cx="5303520" cy="201168"/>
          </a:xfrm>
          <a:prstGeom prst="rect">
            <a:avLst/>
          </a:prstGeom>
          <a:noFill/>
          <a:ln/>
        </p:spPr>
        <p:txBody>
          <a:bodyPr wrap="square" lIns="0" tIns="0" rIns="0" bIns="0" rtlCol="0" anchor="ctr">
            <a:normAutofit/>
          </a:bodyP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48640" y="347472"/>
            <a:ext cx="5623560" cy="411480"/>
          </a:xfrm>
          <a:prstGeom prst="rect">
            <a:avLst/>
          </a:prstGeom>
          <a:noFill/>
          <a:ln/>
        </p:spPr>
        <p:txBody>
          <a:bodyPr wrap="square" lIns="0" tIns="0" rIns="0" bIns="0" rtlCol="0" anchor="ctr">
            <a:normAutofit/>
          </a:bodyPr>
          <a:lstStyle/>
          <a:p>
            <a:pPr indent="0" marL="0">
              <a:buNone/>
            </a:pPr>
            <a:r>
              <a:rPr lang="en-US" sz="2400" b="1" dirty="0">
                <a:solidFill>
                  <a:srgbClr val="0B172A"/>
                </a:solidFill>
                <a:latin typeface="Aptos Display" pitchFamily="34" charset="0"/>
                <a:ea typeface="Aptos Display" pitchFamily="34" charset="-122"/>
                <a:cs typeface="Aptos Display" pitchFamily="34" charset="-120"/>
              </a:rPr>
              <a:t>Functional requirements</a:t>
            </a:r>
            <a:endParaRPr lang="en-US" sz="2400" dirty="0"/>
          </a:p>
        </p:txBody>
      </p:sp>
      <p:sp>
        <p:nvSpPr>
          <p:cNvPr id="3" name="Text 1"/>
          <p:cNvSpPr/>
          <p:nvPr/>
        </p:nvSpPr>
        <p:spPr>
          <a:xfrm>
            <a:off x="548640" y="804672"/>
            <a:ext cx="5623560" cy="274320"/>
          </a:xfrm>
          <a:prstGeom prst="rect">
            <a:avLst/>
          </a:prstGeom>
          <a:noFill/>
          <a:ln/>
        </p:spPr>
        <p:txBody>
          <a:bodyPr wrap="square" lIns="0" tIns="0" rIns="0" bIns="0" rtlCol="0" anchor="ctr">
            <a:normAutofit/>
          </a:bodyPr>
          <a:lstStyle/>
          <a:p>
            <a:pPr indent="0" marL="0">
              <a:buNone/>
            </a:pPr>
            <a:r>
              <a:rPr lang="en-US" sz="1250" dirty="0">
                <a:solidFill>
                  <a:srgbClr val="64748B"/>
                </a:solidFill>
              </a:rPr>
              <a:t>Core functions for a lightweight complaint risk monitoring application.</a:t>
            </a:r>
            <a:endParaRPr lang="en-US" sz="1250" dirty="0"/>
          </a:p>
        </p:txBody>
      </p:sp>
      <p:sp>
        <p:nvSpPr>
          <p:cNvPr id="4" name="Shape 2"/>
          <p:cNvSpPr/>
          <p:nvPr/>
        </p:nvSpPr>
        <p:spPr>
          <a:xfrm>
            <a:off x="548640" y="1143000"/>
            <a:ext cx="1920240" cy="0"/>
          </a:xfrm>
          <a:prstGeom prst="line">
            <a:avLst/>
          </a:prstGeom>
          <a:noFill/>
          <a:ln w="31750">
            <a:solidFill>
              <a:srgbClr val="0FB7C2"/>
            </a:solidFill>
            <a:prstDash val="solid"/>
          </a:ln>
        </p:spPr>
      </p:sp>
      <p:sp>
        <p:nvSpPr>
          <p:cNvPr id="5" name="Shape 3"/>
          <p:cNvSpPr/>
          <p:nvPr/>
        </p:nvSpPr>
        <p:spPr>
          <a:xfrm>
            <a:off x="777240" y="1554480"/>
            <a:ext cx="384048" cy="384048"/>
          </a:xfrm>
          <a:prstGeom prst="ellipse">
            <a:avLst/>
          </a:prstGeom>
          <a:solidFill>
            <a:srgbClr val="0FB7C2"/>
          </a:solidFill>
          <a:ln w="12700">
            <a:solidFill>
              <a:srgbClr val="0FB7C2"/>
            </a:solidFill>
            <a:prstDash val="solid"/>
          </a:ln>
        </p:spPr>
      </p:sp>
      <p:sp>
        <p:nvSpPr>
          <p:cNvPr id="6" name="Text 4"/>
          <p:cNvSpPr/>
          <p:nvPr/>
        </p:nvSpPr>
        <p:spPr>
          <a:xfrm>
            <a:off x="777240" y="1632204"/>
            <a:ext cx="384048" cy="18288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7" name="Text 5"/>
          <p:cNvSpPr/>
          <p:nvPr/>
        </p:nvSpPr>
        <p:spPr>
          <a:xfrm>
            <a:off x="1280160" y="1527048"/>
            <a:ext cx="4480560" cy="228600"/>
          </a:xfrm>
          <a:prstGeom prst="rect">
            <a:avLst/>
          </a:prstGeom>
          <a:noFill/>
          <a:ln/>
        </p:spPr>
        <p:txBody>
          <a:bodyPr wrap="square" lIns="0" tIns="0" rIns="0" bIns="0" rtlCol="0" anchor="ctr">
            <a:normAutofit/>
          </a:bodyPr>
          <a:lstStyle/>
          <a:p>
            <a:pPr indent="0" marL="0">
              <a:buNone/>
            </a:pPr>
            <a:r>
              <a:rPr lang="en-US" sz="1260" b="1" dirty="0">
                <a:solidFill>
                  <a:srgbClr val="0B172A"/>
                </a:solidFill>
              </a:rPr>
              <a:t>Filter complaint records</a:t>
            </a:r>
            <a:endParaRPr lang="en-US" sz="1260" dirty="0"/>
          </a:p>
        </p:txBody>
      </p:sp>
      <p:sp>
        <p:nvSpPr>
          <p:cNvPr id="8" name="Text 6"/>
          <p:cNvSpPr/>
          <p:nvPr/>
        </p:nvSpPr>
        <p:spPr>
          <a:xfrm>
            <a:off x="1280160" y="1810512"/>
            <a:ext cx="4480560" cy="384048"/>
          </a:xfrm>
          <a:prstGeom prst="rect">
            <a:avLst/>
          </a:prstGeom>
          <a:noFill/>
          <a:ln/>
        </p:spPr>
        <p:txBody>
          <a:bodyPr wrap="square" lIns="0" tIns="0" rIns="0" bIns="0" rtlCol="0" anchor="ctr">
            <a:normAutofit/>
          </a:bodyPr>
          <a:lstStyle/>
          <a:p>
            <a:pPr indent="0" marL="0">
              <a:buNone/>
            </a:pPr>
            <a:r>
              <a:rPr lang="en-US" sz="970" dirty="0">
                <a:solidFill>
                  <a:srgbClr val="64748B"/>
                </a:solidFill>
              </a:rPr>
              <a:t>Product, issue, company, state, submission channel, and time period.</a:t>
            </a:r>
            <a:endParaRPr lang="en-US" sz="970" dirty="0"/>
          </a:p>
        </p:txBody>
      </p:sp>
      <p:sp>
        <p:nvSpPr>
          <p:cNvPr id="9" name="Shape 7"/>
          <p:cNvSpPr/>
          <p:nvPr/>
        </p:nvSpPr>
        <p:spPr>
          <a:xfrm>
            <a:off x="777240" y="2395728"/>
            <a:ext cx="384048" cy="384048"/>
          </a:xfrm>
          <a:prstGeom prst="ellipse">
            <a:avLst/>
          </a:prstGeom>
          <a:solidFill>
            <a:srgbClr val="0FB7C2"/>
          </a:solidFill>
          <a:ln w="12700">
            <a:solidFill>
              <a:srgbClr val="0FB7C2"/>
            </a:solidFill>
            <a:prstDash val="solid"/>
          </a:ln>
        </p:spPr>
      </p:sp>
      <p:sp>
        <p:nvSpPr>
          <p:cNvPr id="10" name="Text 8"/>
          <p:cNvSpPr/>
          <p:nvPr/>
        </p:nvSpPr>
        <p:spPr>
          <a:xfrm>
            <a:off x="777240" y="2473452"/>
            <a:ext cx="384048" cy="18288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1" name="Text 9"/>
          <p:cNvSpPr/>
          <p:nvPr/>
        </p:nvSpPr>
        <p:spPr>
          <a:xfrm>
            <a:off x="1280160" y="2368296"/>
            <a:ext cx="4480560" cy="228600"/>
          </a:xfrm>
          <a:prstGeom prst="rect">
            <a:avLst/>
          </a:prstGeom>
          <a:noFill/>
          <a:ln/>
        </p:spPr>
        <p:txBody>
          <a:bodyPr wrap="square" lIns="0" tIns="0" rIns="0" bIns="0" rtlCol="0" anchor="ctr">
            <a:normAutofit/>
          </a:bodyPr>
          <a:lstStyle/>
          <a:p>
            <a:pPr indent="0" marL="0">
              <a:buNone/>
            </a:pPr>
            <a:r>
              <a:rPr lang="en-US" sz="1260" b="1" dirty="0">
                <a:solidFill>
                  <a:srgbClr val="0B172A"/>
                </a:solidFill>
              </a:rPr>
              <a:t>Summarize complaint volume</a:t>
            </a:r>
            <a:endParaRPr lang="en-US" sz="1260" dirty="0"/>
          </a:p>
        </p:txBody>
      </p:sp>
      <p:sp>
        <p:nvSpPr>
          <p:cNvPr id="12" name="Text 10"/>
          <p:cNvSpPr/>
          <p:nvPr/>
        </p:nvSpPr>
        <p:spPr>
          <a:xfrm>
            <a:off x="1280160" y="2651760"/>
            <a:ext cx="4480560" cy="384048"/>
          </a:xfrm>
          <a:prstGeom prst="rect">
            <a:avLst/>
          </a:prstGeom>
          <a:noFill/>
          <a:ln/>
        </p:spPr>
        <p:txBody>
          <a:bodyPr wrap="square" lIns="0" tIns="0" rIns="0" bIns="0" rtlCol="0" anchor="ctr">
            <a:normAutofit/>
          </a:bodyPr>
          <a:lstStyle/>
          <a:p>
            <a:pPr indent="0" marL="0">
              <a:buNone/>
            </a:pPr>
            <a:r>
              <a:rPr lang="en-US" sz="970" dirty="0">
                <a:solidFill>
                  <a:srgbClr val="64748B"/>
                </a:solidFill>
              </a:rPr>
              <a:t>Total complaints, monthly trend, growth rate, and top categories.</a:t>
            </a:r>
            <a:endParaRPr lang="en-US" sz="970" dirty="0"/>
          </a:p>
        </p:txBody>
      </p:sp>
      <p:sp>
        <p:nvSpPr>
          <p:cNvPr id="13" name="Shape 11"/>
          <p:cNvSpPr/>
          <p:nvPr/>
        </p:nvSpPr>
        <p:spPr>
          <a:xfrm>
            <a:off x="777240" y="3236976"/>
            <a:ext cx="384048" cy="384048"/>
          </a:xfrm>
          <a:prstGeom prst="ellipse">
            <a:avLst/>
          </a:prstGeom>
          <a:solidFill>
            <a:srgbClr val="0FB7C2"/>
          </a:solidFill>
          <a:ln w="12700">
            <a:solidFill>
              <a:srgbClr val="0FB7C2"/>
            </a:solidFill>
            <a:prstDash val="solid"/>
          </a:ln>
        </p:spPr>
      </p:sp>
      <p:sp>
        <p:nvSpPr>
          <p:cNvPr id="14" name="Text 12"/>
          <p:cNvSpPr/>
          <p:nvPr/>
        </p:nvSpPr>
        <p:spPr>
          <a:xfrm>
            <a:off x="777240" y="3314700"/>
            <a:ext cx="384048" cy="18288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5" name="Text 13"/>
          <p:cNvSpPr/>
          <p:nvPr/>
        </p:nvSpPr>
        <p:spPr>
          <a:xfrm>
            <a:off x="1280160" y="3209544"/>
            <a:ext cx="4480560" cy="228600"/>
          </a:xfrm>
          <a:prstGeom prst="rect">
            <a:avLst/>
          </a:prstGeom>
          <a:noFill/>
          <a:ln/>
        </p:spPr>
        <p:txBody>
          <a:bodyPr wrap="square" lIns="0" tIns="0" rIns="0" bIns="0" rtlCol="0" anchor="ctr">
            <a:normAutofit/>
          </a:bodyPr>
          <a:lstStyle/>
          <a:p>
            <a:pPr indent="0" marL="0">
              <a:buNone/>
            </a:pPr>
            <a:r>
              <a:rPr lang="en-US" sz="1260" b="1" dirty="0">
                <a:solidFill>
                  <a:srgbClr val="0B172A"/>
                </a:solidFill>
              </a:rPr>
              <a:t>Monitor response patterns</a:t>
            </a:r>
            <a:endParaRPr lang="en-US" sz="1260" dirty="0"/>
          </a:p>
        </p:txBody>
      </p:sp>
      <p:sp>
        <p:nvSpPr>
          <p:cNvPr id="16" name="Text 14"/>
          <p:cNvSpPr/>
          <p:nvPr/>
        </p:nvSpPr>
        <p:spPr>
          <a:xfrm>
            <a:off x="1280160" y="3493008"/>
            <a:ext cx="4480560" cy="384048"/>
          </a:xfrm>
          <a:prstGeom prst="rect">
            <a:avLst/>
          </a:prstGeom>
          <a:noFill/>
          <a:ln/>
        </p:spPr>
        <p:txBody>
          <a:bodyPr wrap="square" lIns="0" tIns="0" rIns="0" bIns="0" rtlCol="0" anchor="ctr">
            <a:normAutofit/>
          </a:bodyPr>
          <a:lstStyle/>
          <a:p>
            <a:pPr indent="0" marL="0">
              <a:buNone/>
            </a:pPr>
            <a:r>
              <a:rPr lang="en-US" sz="970" dirty="0">
                <a:solidFill>
                  <a:srgbClr val="64748B"/>
                </a:solidFill>
              </a:rPr>
              <a:t>Company response types and timely response percentage.</a:t>
            </a:r>
            <a:endParaRPr lang="en-US" sz="970" dirty="0"/>
          </a:p>
        </p:txBody>
      </p:sp>
      <p:sp>
        <p:nvSpPr>
          <p:cNvPr id="17" name="Shape 15"/>
          <p:cNvSpPr/>
          <p:nvPr/>
        </p:nvSpPr>
        <p:spPr>
          <a:xfrm>
            <a:off x="777240" y="4078224"/>
            <a:ext cx="384048" cy="384048"/>
          </a:xfrm>
          <a:prstGeom prst="ellipse">
            <a:avLst/>
          </a:prstGeom>
          <a:solidFill>
            <a:srgbClr val="0FB7C2"/>
          </a:solidFill>
          <a:ln w="12700">
            <a:solidFill>
              <a:srgbClr val="0FB7C2"/>
            </a:solidFill>
            <a:prstDash val="solid"/>
          </a:ln>
        </p:spPr>
      </p:sp>
      <p:sp>
        <p:nvSpPr>
          <p:cNvPr id="18" name="Text 16"/>
          <p:cNvSpPr/>
          <p:nvPr/>
        </p:nvSpPr>
        <p:spPr>
          <a:xfrm>
            <a:off x="777240" y="4155948"/>
            <a:ext cx="384048" cy="18288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7"/>
          <p:cNvSpPr/>
          <p:nvPr/>
        </p:nvSpPr>
        <p:spPr>
          <a:xfrm>
            <a:off x="1280160" y="4050792"/>
            <a:ext cx="4480560" cy="228600"/>
          </a:xfrm>
          <a:prstGeom prst="rect">
            <a:avLst/>
          </a:prstGeom>
          <a:noFill/>
          <a:ln/>
        </p:spPr>
        <p:txBody>
          <a:bodyPr wrap="square" lIns="0" tIns="0" rIns="0" bIns="0" rtlCol="0" anchor="ctr">
            <a:normAutofit/>
          </a:bodyPr>
          <a:lstStyle/>
          <a:p>
            <a:pPr indent="0" marL="0">
              <a:buNone/>
            </a:pPr>
            <a:r>
              <a:rPr lang="en-US" sz="1260" b="1" dirty="0">
                <a:solidFill>
                  <a:srgbClr val="0B172A"/>
                </a:solidFill>
              </a:rPr>
              <a:t>Flag rising risk areas</a:t>
            </a:r>
            <a:endParaRPr lang="en-US" sz="1260" dirty="0"/>
          </a:p>
        </p:txBody>
      </p:sp>
      <p:sp>
        <p:nvSpPr>
          <p:cNvPr id="20" name="Text 18"/>
          <p:cNvSpPr/>
          <p:nvPr/>
        </p:nvSpPr>
        <p:spPr>
          <a:xfrm>
            <a:off x="1280160" y="4334256"/>
            <a:ext cx="4480560" cy="384048"/>
          </a:xfrm>
          <a:prstGeom prst="rect">
            <a:avLst/>
          </a:prstGeom>
          <a:noFill/>
          <a:ln/>
        </p:spPr>
        <p:txBody>
          <a:bodyPr wrap="square" lIns="0" tIns="0" rIns="0" bIns="0" rtlCol="0" anchor="ctr">
            <a:normAutofit/>
          </a:bodyPr>
          <a:lstStyle/>
          <a:p>
            <a:pPr indent="0" marL="0">
              <a:buNone/>
            </a:pPr>
            <a:r>
              <a:rPr lang="en-US" sz="970" dirty="0">
                <a:solidFill>
                  <a:srgbClr val="64748B"/>
                </a:solidFill>
              </a:rPr>
              <a:t>Simple indicators for categories with increasing volume or repeated issues.</a:t>
            </a:r>
            <a:endParaRPr lang="en-US" sz="970" dirty="0"/>
          </a:p>
        </p:txBody>
      </p:sp>
      <p:sp>
        <p:nvSpPr>
          <p:cNvPr id="21" name="Shape 19"/>
          <p:cNvSpPr/>
          <p:nvPr/>
        </p:nvSpPr>
        <p:spPr>
          <a:xfrm>
            <a:off x="777240" y="4919472"/>
            <a:ext cx="384048" cy="384048"/>
          </a:xfrm>
          <a:prstGeom prst="ellipse">
            <a:avLst/>
          </a:prstGeom>
          <a:solidFill>
            <a:srgbClr val="0FB7C2"/>
          </a:solidFill>
          <a:ln w="12700">
            <a:solidFill>
              <a:srgbClr val="0FB7C2"/>
            </a:solidFill>
            <a:prstDash val="solid"/>
          </a:ln>
        </p:spPr>
      </p:sp>
      <p:sp>
        <p:nvSpPr>
          <p:cNvPr id="22" name="Text 20"/>
          <p:cNvSpPr/>
          <p:nvPr/>
        </p:nvSpPr>
        <p:spPr>
          <a:xfrm>
            <a:off x="777240" y="4997196"/>
            <a:ext cx="384048" cy="182880"/>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3" name="Text 21"/>
          <p:cNvSpPr/>
          <p:nvPr/>
        </p:nvSpPr>
        <p:spPr>
          <a:xfrm>
            <a:off x="1280160" y="4892040"/>
            <a:ext cx="4480560" cy="228600"/>
          </a:xfrm>
          <a:prstGeom prst="rect">
            <a:avLst/>
          </a:prstGeom>
          <a:noFill/>
          <a:ln/>
        </p:spPr>
        <p:txBody>
          <a:bodyPr wrap="square" lIns="0" tIns="0" rIns="0" bIns="0" rtlCol="0" anchor="ctr">
            <a:normAutofit/>
          </a:bodyPr>
          <a:lstStyle/>
          <a:p>
            <a:pPr indent="0" marL="0">
              <a:buNone/>
            </a:pPr>
            <a:r>
              <a:rPr lang="en-US" sz="1260" b="1" dirty="0">
                <a:solidFill>
                  <a:srgbClr val="0B172A"/>
                </a:solidFill>
              </a:rPr>
              <a:t>Optional text analysis</a:t>
            </a:r>
            <a:endParaRPr lang="en-US" sz="1260" dirty="0"/>
          </a:p>
        </p:txBody>
      </p:sp>
      <p:sp>
        <p:nvSpPr>
          <p:cNvPr id="24" name="Text 22"/>
          <p:cNvSpPr/>
          <p:nvPr/>
        </p:nvSpPr>
        <p:spPr>
          <a:xfrm>
            <a:off x="1280160" y="5175504"/>
            <a:ext cx="4480560" cy="384048"/>
          </a:xfrm>
          <a:prstGeom prst="rect">
            <a:avLst/>
          </a:prstGeom>
          <a:noFill/>
          <a:ln/>
        </p:spPr>
        <p:txBody>
          <a:bodyPr wrap="square" lIns="0" tIns="0" rIns="0" bIns="0" rtlCol="0" anchor="ctr">
            <a:normAutofit/>
          </a:bodyPr>
          <a:lstStyle/>
          <a:p>
            <a:pPr indent="0" marL="0">
              <a:buNone/>
            </a:pPr>
            <a:r>
              <a:rPr lang="en-US" sz="970" dirty="0">
                <a:solidFill>
                  <a:srgbClr val="64748B"/>
                </a:solidFill>
              </a:rPr>
              <a:t>Use complaint narratives for keyword analysis or simple classification if scope allows.</a:t>
            </a:r>
            <a:endParaRPr lang="en-US" sz="970" dirty="0"/>
          </a:p>
        </p:txBody>
      </p:sp>
      <p:pic>
        <p:nvPicPr>
          <p:cNvPr id="25" name="Image 0" descr="/mnt/data/risk_mid.jpg">    </p:cNvPr>
          <p:cNvPicPr>
            <a:picLocks noChangeAspect="1"/>
          </p:cNvPicPr>
          <p:nvPr/>
        </p:nvPicPr>
        <p:blipFill>
          <a:blip r:embed="rId1"/>
          <a:stretch>
            <a:fillRect/>
          </a:stretch>
        </p:blipFill>
        <p:spPr>
          <a:xfrm>
            <a:off x="6583680" y="1417320"/>
            <a:ext cx="4846320" cy="4251960"/>
          </a:xfrm>
          <a:prstGeom prst="rect">
            <a:avLst/>
          </a:prstGeom>
        </p:spPr>
      </p:pic>
      <p:sp>
        <p:nvSpPr>
          <p:cNvPr id="26" name="Shape 23"/>
          <p:cNvSpPr/>
          <p:nvPr/>
        </p:nvSpPr>
        <p:spPr>
          <a:xfrm>
            <a:off x="6583680" y="5870448"/>
            <a:ext cx="4846320" cy="475488"/>
          </a:xfrm>
          <a:prstGeom prst="roundRect">
            <a:avLst>
              <a:gd name="adj" fmla="val 19231"/>
            </a:avLst>
          </a:prstGeom>
          <a:solidFill>
            <a:srgbClr val="0B172A"/>
          </a:solidFill>
          <a:ln w="12700">
            <a:solidFill>
              <a:srgbClr val="0B172A"/>
            </a:solidFill>
            <a:prstDash val="solid"/>
          </a:ln>
        </p:spPr>
      </p:sp>
      <p:sp>
        <p:nvSpPr>
          <p:cNvPr id="27" name="Text 24"/>
          <p:cNvSpPr/>
          <p:nvPr/>
        </p:nvSpPr>
        <p:spPr>
          <a:xfrm>
            <a:off x="6812280" y="5998464"/>
            <a:ext cx="4389120" cy="18288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Primary design goal: simple enough for non-technical risk users</a:t>
            </a:r>
            <a:endParaRPr lang="en-US" sz="1050" dirty="0"/>
          </a:p>
        </p:txBody>
      </p:sp>
      <p:sp>
        <p:nvSpPr>
          <p:cNvPr id="28" name="Text 25"/>
          <p:cNvSpPr/>
          <p:nvPr/>
        </p:nvSpPr>
        <p:spPr>
          <a:xfrm>
            <a:off x="548640" y="6473952"/>
            <a:ext cx="5303520" cy="201168"/>
          </a:xfrm>
          <a:prstGeom prst="rect">
            <a:avLst/>
          </a:prstGeom>
          <a:noFill/>
          <a:ln/>
        </p:spPr>
        <p:txBody>
          <a:bodyPr wrap="square" lIns="0" tIns="0" rIns="0" bIns="0" rtlCol="0" anchor="ctr">
            <a:normAutofit/>
          </a:bodyP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5623560" cy="411480"/>
          </a:xfrm>
          <a:prstGeom prst="rect">
            <a:avLst/>
          </a:prstGeom>
          <a:noFill/>
          <a:ln/>
        </p:spPr>
        <p:txBody>
          <a:bodyPr wrap="square" lIns="0" tIns="0" rIns="0" bIns="0" rtlCol="0" anchor="ctr">
            <a:normAutofit/>
          </a:bodyPr>
          <a:lstStyle/>
          <a:p>
            <a:pPr indent="0" marL="0">
              <a:buNone/>
            </a:pPr>
            <a:r>
              <a:rPr lang="en-US" sz="2400" b="1" dirty="0">
                <a:solidFill>
                  <a:srgbClr val="0B172A"/>
                </a:solidFill>
                <a:latin typeface="Aptos Display" pitchFamily="34" charset="0"/>
                <a:ea typeface="Aptos Display" pitchFamily="34" charset="-122"/>
                <a:cs typeface="Aptos Display" pitchFamily="34" charset="-120"/>
              </a:rPr>
              <a:t>Expected outputs</a:t>
            </a:r>
            <a:endParaRPr lang="en-US" sz="2400" dirty="0"/>
          </a:p>
        </p:txBody>
      </p:sp>
      <p:sp>
        <p:nvSpPr>
          <p:cNvPr id="3" name="Text 1"/>
          <p:cNvSpPr/>
          <p:nvPr/>
        </p:nvSpPr>
        <p:spPr>
          <a:xfrm>
            <a:off x="548640" y="804672"/>
            <a:ext cx="5623560" cy="274320"/>
          </a:xfrm>
          <a:prstGeom prst="rect">
            <a:avLst/>
          </a:prstGeom>
          <a:noFill/>
          <a:ln/>
        </p:spPr>
        <p:txBody>
          <a:bodyPr wrap="square" lIns="0" tIns="0" rIns="0" bIns="0" rtlCol="0" anchor="ctr">
            <a:normAutofit/>
          </a:bodyPr>
          <a:lstStyle/>
          <a:p>
            <a:pPr indent="0" marL="0">
              <a:buNone/>
            </a:pPr>
            <a:r>
              <a:rPr lang="en-US" sz="1250" dirty="0">
                <a:solidFill>
                  <a:srgbClr val="64748B"/>
                </a:solidFill>
              </a:rPr>
              <a:t>A dashboard or lightweight web app with practical risk signals.</a:t>
            </a:r>
            <a:endParaRPr lang="en-US" sz="1250" dirty="0"/>
          </a:p>
        </p:txBody>
      </p:sp>
      <p:sp>
        <p:nvSpPr>
          <p:cNvPr id="4" name="Shape 2"/>
          <p:cNvSpPr/>
          <p:nvPr/>
        </p:nvSpPr>
        <p:spPr>
          <a:xfrm>
            <a:off x="548640" y="1143000"/>
            <a:ext cx="1920240" cy="0"/>
          </a:xfrm>
          <a:prstGeom prst="line">
            <a:avLst/>
          </a:prstGeom>
          <a:noFill/>
          <a:ln w="31750">
            <a:solidFill>
              <a:srgbClr val="0FB7C2"/>
            </a:solidFill>
            <a:prstDash val="solid"/>
          </a:ln>
        </p:spPr>
      </p:sp>
      <p:sp>
        <p:nvSpPr>
          <p:cNvPr id="5" name="Shape 3"/>
          <p:cNvSpPr/>
          <p:nvPr/>
        </p:nvSpPr>
        <p:spPr>
          <a:xfrm>
            <a:off x="658368" y="1417320"/>
            <a:ext cx="10881360" cy="3977640"/>
          </a:xfrm>
          <a:prstGeom prst="roundRect">
            <a:avLst>
              <a:gd name="adj" fmla="val 3218"/>
            </a:avLst>
          </a:prstGeom>
          <a:solidFill>
            <a:srgbClr val="F8FAFC"/>
          </a:solidFill>
          <a:ln w="12700">
            <a:solidFill>
              <a:srgbClr val="E2E8F0"/>
            </a:solidFill>
            <a:prstDash val="solid"/>
          </a:ln>
        </p:spPr>
      </p:sp>
      <p:sp>
        <p:nvSpPr>
          <p:cNvPr id="6" name="Shape 4"/>
          <p:cNvSpPr/>
          <p:nvPr/>
        </p:nvSpPr>
        <p:spPr>
          <a:xfrm>
            <a:off x="960120" y="1737360"/>
            <a:ext cx="1627632" cy="914400"/>
          </a:xfrm>
          <a:prstGeom prst="roundRect">
            <a:avLst>
              <a:gd name="adj" fmla="val 12000"/>
            </a:avLst>
          </a:prstGeom>
          <a:solidFill>
            <a:srgbClr val="F5F8FB"/>
          </a:solidFill>
          <a:ln w="12700">
            <a:solidFill>
              <a:srgbClr val="E2E8F0"/>
            </a:solidFill>
            <a:prstDash val="solid"/>
          </a:ln>
        </p:spPr>
      </p:sp>
      <p:sp>
        <p:nvSpPr>
          <p:cNvPr id="7" name="Text 5"/>
          <p:cNvSpPr/>
          <p:nvPr/>
        </p:nvSpPr>
        <p:spPr>
          <a:xfrm>
            <a:off x="1124712" y="1883664"/>
            <a:ext cx="1298448" cy="320040"/>
          </a:xfrm>
          <a:prstGeom prst="rect">
            <a:avLst/>
          </a:prstGeom>
          <a:noFill/>
          <a:ln/>
        </p:spPr>
        <p:txBody>
          <a:bodyPr wrap="square" lIns="0" tIns="0" rIns="0" bIns="0" rtlCol="0" anchor="ctr">
            <a:normAutofit/>
          </a:bodyPr>
          <a:lstStyle/>
          <a:p>
            <a:pPr algn="ctr" indent="0" marL="0">
              <a:buNone/>
            </a:pPr>
            <a:r>
              <a:rPr lang="en-US" sz="2100" b="1" dirty="0">
                <a:solidFill>
                  <a:srgbClr val="0FB7C2"/>
                </a:solidFill>
              </a:rPr>
              <a:t>KPI</a:t>
            </a:r>
            <a:endParaRPr lang="en-US" sz="2100" dirty="0"/>
          </a:p>
        </p:txBody>
      </p:sp>
      <p:sp>
        <p:nvSpPr>
          <p:cNvPr id="8" name="Text 6"/>
          <p:cNvSpPr/>
          <p:nvPr/>
        </p:nvSpPr>
        <p:spPr>
          <a:xfrm>
            <a:off x="1097280" y="2267712"/>
            <a:ext cx="1353312"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Total complaints</a:t>
            </a:r>
            <a:endParaRPr lang="en-US" sz="920" dirty="0"/>
          </a:p>
        </p:txBody>
      </p:sp>
      <p:sp>
        <p:nvSpPr>
          <p:cNvPr id="9" name="Shape 7"/>
          <p:cNvSpPr/>
          <p:nvPr/>
        </p:nvSpPr>
        <p:spPr>
          <a:xfrm>
            <a:off x="2834640" y="1737360"/>
            <a:ext cx="1627632" cy="914400"/>
          </a:xfrm>
          <a:prstGeom prst="roundRect">
            <a:avLst>
              <a:gd name="adj" fmla="val 12000"/>
            </a:avLst>
          </a:prstGeom>
          <a:solidFill>
            <a:srgbClr val="F5F8FB"/>
          </a:solidFill>
          <a:ln w="12700">
            <a:solidFill>
              <a:srgbClr val="E2E8F0"/>
            </a:solidFill>
            <a:prstDash val="solid"/>
          </a:ln>
        </p:spPr>
      </p:sp>
      <p:sp>
        <p:nvSpPr>
          <p:cNvPr id="10" name="Text 8"/>
          <p:cNvSpPr/>
          <p:nvPr/>
        </p:nvSpPr>
        <p:spPr>
          <a:xfrm>
            <a:off x="2999232" y="1883664"/>
            <a:ext cx="1298448" cy="320040"/>
          </a:xfrm>
          <a:prstGeom prst="rect">
            <a:avLst/>
          </a:prstGeom>
          <a:noFill/>
          <a:ln/>
        </p:spPr>
        <p:txBody>
          <a:bodyPr wrap="square" lIns="0" tIns="0" rIns="0" bIns="0" rtlCol="0" anchor="ctr">
            <a:normAutofit/>
          </a:bodyPr>
          <a:lstStyle/>
          <a:p>
            <a:pPr algn="ctr" indent="0" marL="0">
              <a:buNone/>
            </a:pPr>
            <a:r>
              <a:rPr lang="en-US" sz="2100" b="1" dirty="0">
                <a:solidFill>
                  <a:srgbClr val="2B6CB0"/>
                </a:solidFill>
              </a:rPr>
              <a:t>Metric</a:t>
            </a:r>
            <a:endParaRPr lang="en-US" sz="2100" dirty="0"/>
          </a:p>
        </p:txBody>
      </p:sp>
      <p:sp>
        <p:nvSpPr>
          <p:cNvPr id="11" name="Text 9"/>
          <p:cNvSpPr/>
          <p:nvPr/>
        </p:nvSpPr>
        <p:spPr>
          <a:xfrm>
            <a:off x="2971800" y="2267712"/>
            <a:ext cx="1353312"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Timely response %</a:t>
            </a:r>
            <a:endParaRPr lang="en-US" sz="920" dirty="0"/>
          </a:p>
        </p:txBody>
      </p:sp>
      <p:sp>
        <p:nvSpPr>
          <p:cNvPr id="12" name="Shape 10"/>
          <p:cNvSpPr/>
          <p:nvPr/>
        </p:nvSpPr>
        <p:spPr>
          <a:xfrm>
            <a:off x="4709160" y="1737360"/>
            <a:ext cx="1627632" cy="914400"/>
          </a:xfrm>
          <a:prstGeom prst="roundRect">
            <a:avLst>
              <a:gd name="adj" fmla="val 12000"/>
            </a:avLst>
          </a:prstGeom>
          <a:solidFill>
            <a:srgbClr val="F5F8FB"/>
          </a:solidFill>
          <a:ln w="12700">
            <a:solidFill>
              <a:srgbClr val="E2E8F0"/>
            </a:solidFill>
            <a:prstDash val="solid"/>
          </a:ln>
        </p:spPr>
      </p:sp>
      <p:sp>
        <p:nvSpPr>
          <p:cNvPr id="13" name="Text 11"/>
          <p:cNvSpPr/>
          <p:nvPr/>
        </p:nvSpPr>
        <p:spPr>
          <a:xfrm>
            <a:off x="4873752" y="1883664"/>
            <a:ext cx="1298448" cy="320040"/>
          </a:xfrm>
          <a:prstGeom prst="rect">
            <a:avLst/>
          </a:prstGeom>
          <a:noFill/>
          <a:ln/>
        </p:spPr>
        <p:txBody>
          <a:bodyPr wrap="square" lIns="0" tIns="0" rIns="0" bIns="0" rtlCol="0" anchor="ctr">
            <a:normAutofit/>
          </a:bodyPr>
          <a:lstStyle/>
          <a:p>
            <a:pPr algn="ctr" indent="0" marL="0">
              <a:buNone/>
            </a:pPr>
            <a:r>
              <a:rPr lang="en-US" sz="2100" b="1" dirty="0">
                <a:solidFill>
                  <a:srgbClr val="F4B740"/>
                </a:solidFill>
              </a:rPr>
              <a:t>Rank</a:t>
            </a:r>
            <a:endParaRPr lang="en-US" sz="2100" dirty="0"/>
          </a:p>
        </p:txBody>
      </p:sp>
      <p:sp>
        <p:nvSpPr>
          <p:cNvPr id="14" name="Text 12"/>
          <p:cNvSpPr/>
          <p:nvPr/>
        </p:nvSpPr>
        <p:spPr>
          <a:xfrm>
            <a:off x="4846320" y="2267712"/>
            <a:ext cx="1353312"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Top issue types</a:t>
            </a:r>
            <a:endParaRPr lang="en-US" sz="920" dirty="0"/>
          </a:p>
        </p:txBody>
      </p:sp>
      <p:sp>
        <p:nvSpPr>
          <p:cNvPr id="15" name="Shape 13"/>
          <p:cNvSpPr/>
          <p:nvPr/>
        </p:nvSpPr>
        <p:spPr>
          <a:xfrm>
            <a:off x="6583680" y="1737360"/>
            <a:ext cx="1627632" cy="914400"/>
          </a:xfrm>
          <a:prstGeom prst="roundRect">
            <a:avLst>
              <a:gd name="adj" fmla="val 12000"/>
            </a:avLst>
          </a:prstGeom>
          <a:solidFill>
            <a:srgbClr val="F5F8FB"/>
          </a:solidFill>
          <a:ln w="12700">
            <a:solidFill>
              <a:srgbClr val="E2E8F0"/>
            </a:solidFill>
            <a:prstDash val="solid"/>
          </a:ln>
        </p:spPr>
      </p:sp>
      <p:sp>
        <p:nvSpPr>
          <p:cNvPr id="16" name="Text 14"/>
          <p:cNvSpPr/>
          <p:nvPr/>
        </p:nvSpPr>
        <p:spPr>
          <a:xfrm>
            <a:off x="6748272" y="1883664"/>
            <a:ext cx="1298448" cy="320040"/>
          </a:xfrm>
          <a:prstGeom prst="rect">
            <a:avLst/>
          </a:prstGeom>
          <a:noFill/>
          <a:ln/>
        </p:spPr>
        <p:txBody>
          <a:bodyPr wrap="square" lIns="0" tIns="0" rIns="0" bIns="0" rtlCol="0" anchor="ctr">
            <a:normAutofit/>
          </a:bodyPr>
          <a:lstStyle/>
          <a:p>
            <a:pPr algn="ctr" indent="0" marL="0">
              <a:buNone/>
            </a:pPr>
            <a:r>
              <a:rPr lang="en-US" sz="2100" b="1" dirty="0">
                <a:solidFill>
                  <a:srgbClr val="E96060"/>
                </a:solidFill>
              </a:rPr>
              <a:t>Flag</a:t>
            </a:r>
            <a:endParaRPr lang="en-US" sz="2100" dirty="0"/>
          </a:p>
        </p:txBody>
      </p:sp>
      <p:sp>
        <p:nvSpPr>
          <p:cNvPr id="17" name="Text 15"/>
          <p:cNvSpPr/>
          <p:nvPr/>
        </p:nvSpPr>
        <p:spPr>
          <a:xfrm>
            <a:off x="6720840" y="2267712"/>
            <a:ext cx="1353312"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Rising categories</a:t>
            </a:r>
            <a:endParaRPr lang="en-US" sz="920" dirty="0"/>
          </a:p>
        </p:txBody>
      </p:sp>
      <p:sp>
        <p:nvSpPr>
          <p:cNvPr id="18" name="Shape 16"/>
          <p:cNvSpPr/>
          <p:nvPr/>
        </p:nvSpPr>
        <p:spPr>
          <a:xfrm>
            <a:off x="8458200" y="1737360"/>
            <a:ext cx="1627632" cy="914400"/>
          </a:xfrm>
          <a:prstGeom prst="roundRect">
            <a:avLst>
              <a:gd name="adj" fmla="val 12000"/>
            </a:avLst>
          </a:prstGeom>
          <a:solidFill>
            <a:srgbClr val="F5F8FB"/>
          </a:solidFill>
          <a:ln w="12700">
            <a:solidFill>
              <a:srgbClr val="E2E8F0"/>
            </a:solidFill>
            <a:prstDash val="solid"/>
          </a:ln>
        </p:spPr>
      </p:sp>
      <p:sp>
        <p:nvSpPr>
          <p:cNvPr id="19" name="Text 17"/>
          <p:cNvSpPr/>
          <p:nvPr/>
        </p:nvSpPr>
        <p:spPr>
          <a:xfrm>
            <a:off x="8622792" y="1883664"/>
            <a:ext cx="1298448" cy="320040"/>
          </a:xfrm>
          <a:prstGeom prst="rect">
            <a:avLst/>
          </a:prstGeom>
          <a:noFill/>
          <a:ln/>
        </p:spPr>
        <p:txBody>
          <a:bodyPr wrap="square" lIns="0" tIns="0" rIns="0" bIns="0" rtlCol="0" anchor="ctr">
            <a:normAutofit/>
          </a:bodyPr>
          <a:lstStyle/>
          <a:p>
            <a:pPr algn="ctr" indent="0" marL="0">
              <a:buNone/>
            </a:pPr>
            <a:r>
              <a:rPr lang="en-US" sz="2100" b="1" dirty="0">
                <a:solidFill>
                  <a:srgbClr val="49B778"/>
                </a:solidFill>
              </a:rPr>
              <a:t>View</a:t>
            </a:r>
            <a:endParaRPr lang="en-US" sz="2100" dirty="0"/>
          </a:p>
        </p:txBody>
      </p:sp>
      <p:sp>
        <p:nvSpPr>
          <p:cNvPr id="20" name="Text 18"/>
          <p:cNvSpPr/>
          <p:nvPr/>
        </p:nvSpPr>
        <p:spPr>
          <a:xfrm>
            <a:off x="8595360" y="2267712"/>
            <a:ext cx="1353312" cy="228600"/>
          </a:xfrm>
          <a:prstGeom prst="rect">
            <a:avLst/>
          </a:prstGeom>
          <a:noFill/>
          <a:ln/>
        </p:spPr>
        <p:txBody>
          <a:bodyPr wrap="square" lIns="0" tIns="0" rIns="0" bIns="0" rtlCol="0" anchor="ctr">
            <a:normAutofit/>
          </a:bodyPr>
          <a:lstStyle/>
          <a:p>
            <a:pPr algn="ctr" indent="0" marL="0">
              <a:buNone/>
            </a:pPr>
            <a:r>
              <a:rPr lang="en-US" sz="920" dirty="0">
                <a:solidFill>
                  <a:srgbClr val="64748B"/>
                </a:solidFill>
              </a:rPr>
              <a:t>Company response</a:t>
            </a:r>
            <a:endParaRPr lang="en-US" sz="920" dirty="0"/>
          </a:p>
        </p:txBody>
      </p:sp>
      <p:sp>
        <p:nvSpPr>
          <p:cNvPr id="21" name="Shape 19"/>
          <p:cNvSpPr/>
          <p:nvPr/>
        </p:nvSpPr>
        <p:spPr>
          <a:xfrm>
            <a:off x="960120" y="3246120"/>
            <a:ext cx="3246120" cy="1417320"/>
          </a:xfrm>
          <a:prstGeom prst="roundRect">
            <a:avLst>
              <a:gd name="adj" fmla="val 7742"/>
            </a:avLst>
          </a:prstGeom>
          <a:solidFill>
            <a:srgbClr val="FFFFFF"/>
          </a:solidFill>
          <a:ln w="12700">
            <a:solidFill>
              <a:srgbClr val="E2E8F0"/>
            </a:solidFill>
            <a:prstDash val="solid"/>
          </a:ln>
        </p:spPr>
      </p:sp>
      <p:sp>
        <p:nvSpPr>
          <p:cNvPr id="22" name="Shape 20"/>
          <p:cNvSpPr/>
          <p:nvPr/>
        </p:nvSpPr>
        <p:spPr>
          <a:xfrm>
            <a:off x="1106424" y="3465576"/>
            <a:ext cx="658368" cy="0"/>
          </a:xfrm>
          <a:prstGeom prst="line">
            <a:avLst/>
          </a:prstGeom>
          <a:noFill/>
          <a:ln w="25400">
            <a:solidFill>
              <a:srgbClr val="0FB7C2"/>
            </a:solidFill>
            <a:prstDash val="solid"/>
          </a:ln>
        </p:spPr>
      </p:sp>
      <p:sp>
        <p:nvSpPr>
          <p:cNvPr id="23" name="Text 21"/>
          <p:cNvSpPr/>
          <p:nvPr/>
        </p:nvSpPr>
        <p:spPr>
          <a:xfrm>
            <a:off x="1106424" y="3630168"/>
            <a:ext cx="295351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Dashboard views</a:t>
            </a:r>
            <a:endParaRPr lang="en-US" sz="1300" dirty="0"/>
          </a:p>
        </p:txBody>
      </p:sp>
      <p:sp>
        <p:nvSpPr>
          <p:cNvPr id="24" name="Text 22"/>
          <p:cNvSpPr/>
          <p:nvPr/>
        </p:nvSpPr>
        <p:spPr>
          <a:xfrm>
            <a:off x="1106424" y="3977640"/>
            <a:ext cx="295351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Volume trends over time</a:t>
            </a:r>
            <a:endParaRPr lang="en-US" sz="1030" dirty="0"/>
          </a:p>
          <a:p>
            <a:pPr indent="0" marL="0">
              <a:buNone/>
            </a:pPr>
            <a:r>
              <a:rPr lang="en-US" sz="1030" dirty="0">
                <a:solidFill>
                  <a:srgbClr val="64748B"/>
                </a:solidFill>
              </a:rPr>
              <a:t>Top products and issue categories</a:t>
            </a:r>
            <a:endParaRPr lang="en-US" sz="1030" dirty="0"/>
          </a:p>
          <a:p>
            <a:pPr indent="0" marL="0">
              <a:buNone/>
            </a:pPr>
            <a:r>
              <a:rPr lang="en-US" sz="1030" dirty="0">
                <a:solidFill>
                  <a:srgbClr val="64748B"/>
                </a:solidFill>
              </a:rPr>
              <a:t>Geographic / company filters</a:t>
            </a:r>
            <a:endParaRPr lang="en-US" sz="1030" dirty="0"/>
          </a:p>
        </p:txBody>
      </p:sp>
      <p:sp>
        <p:nvSpPr>
          <p:cNvPr id="25" name="Shape 23"/>
          <p:cNvSpPr/>
          <p:nvPr/>
        </p:nvSpPr>
        <p:spPr>
          <a:xfrm>
            <a:off x="4498848" y="3246120"/>
            <a:ext cx="3246120" cy="1417320"/>
          </a:xfrm>
          <a:prstGeom prst="roundRect">
            <a:avLst>
              <a:gd name="adj" fmla="val 7742"/>
            </a:avLst>
          </a:prstGeom>
          <a:solidFill>
            <a:srgbClr val="FFFFFF"/>
          </a:solidFill>
          <a:ln w="12700">
            <a:solidFill>
              <a:srgbClr val="E2E8F0"/>
            </a:solidFill>
            <a:prstDash val="solid"/>
          </a:ln>
        </p:spPr>
      </p:sp>
      <p:sp>
        <p:nvSpPr>
          <p:cNvPr id="26" name="Shape 24"/>
          <p:cNvSpPr/>
          <p:nvPr/>
        </p:nvSpPr>
        <p:spPr>
          <a:xfrm>
            <a:off x="4645152" y="3465576"/>
            <a:ext cx="658368" cy="0"/>
          </a:xfrm>
          <a:prstGeom prst="line">
            <a:avLst/>
          </a:prstGeom>
          <a:noFill/>
          <a:ln w="25400">
            <a:solidFill>
              <a:srgbClr val="E96060"/>
            </a:solidFill>
            <a:prstDash val="solid"/>
          </a:ln>
        </p:spPr>
      </p:sp>
      <p:sp>
        <p:nvSpPr>
          <p:cNvPr id="27" name="Text 25"/>
          <p:cNvSpPr/>
          <p:nvPr/>
        </p:nvSpPr>
        <p:spPr>
          <a:xfrm>
            <a:off x="4645152" y="3630168"/>
            <a:ext cx="295351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Risk summary</a:t>
            </a:r>
            <a:endParaRPr lang="en-US" sz="1300" dirty="0"/>
          </a:p>
        </p:txBody>
      </p:sp>
      <p:sp>
        <p:nvSpPr>
          <p:cNvPr id="28" name="Text 26"/>
          <p:cNvSpPr/>
          <p:nvPr/>
        </p:nvSpPr>
        <p:spPr>
          <a:xfrm>
            <a:off x="4645152" y="3977640"/>
            <a:ext cx="295351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Categories increasing over time</a:t>
            </a:r>
            <a:endParaRPr lang="en-US" sz="1030" dirty="0"/>
          </a:p>
          <a:p>
            <a:pPr indent="0" marL="0">
              <a:buNone/>
            </a:pPr>
            <a:r>
              <a:rPr lang="en-US" sz="1030" dirty="0">
                <a:solidFill>
                  <a:srgbClr val="64748B"/>
                </a:solidFill>
              </a:rPr>
              <a:t>Repeated issue patterns</a:t>
            </a:r>
            <a:endParaRPr lang="en-US" sz="1030" dirty="0"/>
          </a:p>
          <a:p>
            <a:pPr indent="0" marL="0">
              <a:buNone/>
            </a:pPr>
            <a:r>
              <a:rPr lang="en-US" sz="1030" dirty="0">
                <a:solidFill>
                  <a:srgbClr val="64748B"/>
                </a:solidFill>
              </a:rPr>
              <a:t>Response timeliness concerns</a:t>
            </a:r>
            <a:endParaRPr lang="en-US" sz="1030" dirty="0"/>
          </a:p>
        </p:txBody>
      </p:sp>
      <p:sp>
        <p:nvSpPr>
          <p:cNvPr id="29" name="Shape 27"/>
          <p:cNvSpPr/>
          <p:nvPr/>
        </p:nvSpPr>
        <p:spPr>
          <a:xfrm>
            <a:off x="8037576" y="3246120"/>
            <a:ext cx="2057400" cy="1417320"/>
          </a:xfrm>
          <a:prstGeom prst="roundRect">
            <a:avLst>
              <a:gd name="adj" fmla="val 7742"/>
            </a:avLst>
          </a:prstGeom>
          <a:solidFill>
            <a:srgbClr val="FFFFFF"/>
          </a:solidFill>
          <a:ln w="12700">
            <a:solidFill>
              <a:srgbClr val="E2E8F0"/>
            </a:solidFill>
            <a:prstDash val="solid"/>
          </a:ln>
        </p:spPr>
      </p:sp>
      <p:sp>
        <p:nvSpPr>
          <p:cNvPr id="30" name="Shape 28"/>
          <p:cNvSpPr/>
          <p:nvPr/>
        </p:nvSpPr>
        <p:spPr>
          <a:xfrm>
            <a:off x="8183880" y="3465576"/>
            <a:ext cx="658368" cy="0"/>
          </a:xfrm>
          <a:prstGeom prst="line">
            <a:avLst/>
          </a:prstGeom>
          <a:noFill/>
          <a:ln w="25400">
            <a:solidFill>
              <a:srgbClr val="2B6CB0"/>
            </a:solidFill>
            <a:prstDash val="solid"/>
          </a:ln>
        </p:spPr>
      </p:sp>
      <p:sp>
        <p:nvSpPr>
          <p:cNvPr id="31" name="Text 29"/>
          <p:cNvSpPr/>
          <p:nvPr/>
        </p:nvSpPr>
        <p:spPr>
          <a:xfrm>
            <a:off x="8183880" y="3630168"/>
            <a:ext cx="1764792" cy="256032"/>
          </a:xfrm>
          <a:prstGeom prst="rect">
            <a:avLst/>
          </a:prstGeom>
          <a:noFill/>
          <a:ln/>
        </p:spPr>
        <p:txBody>
          <a:bodyPr wrap="square" lIns="0" tIns="0" rIns="0" bIns="0" rtlCol="0" anchor="ctr">
            <a:normAutofit/>
          </a:bodyPr>
          <a:lstStyle/>
          <a:p>
            <a:pPr indent="0" marL="0">
              <a:buNone/>
            </a:pPr>
            <a:r>
              <a:rPr lang="en-US" sz="1300" b="1" dirty="0">
                <a:solidFill>
                  <a:srgbClr val="0B172A"/>
                </a:solidFill>
              </a:rPr>
              <a:t>Documentation</a:t>
            </a:r>
            <a:endParaRPr lang="en-US" sz="1300" dirty="0"/>
          </a:p>
        </p:txBody>
      </p:sp>
      <p:sp>
        <p:nvSpPr>
          <p:cNvPr id="32" name="Text 30"/>
          <p:cNvSpPr/>
          <p:nvPr/>
        </p:nvSpPr>
        <p:spPr>
          <a:xfrm>
            <a:off x="8183880" y="3977640"/>
            <a:ext cx="1764792" cy="548640"/>
          </a:xfrm>
          <a:prstGeom prst="rect">
            <a:avLst/>
          </a:prstGeom>
          <a:noFill/>
          <a:ln/>
        </p:spPr>
        <p:txBody>
          <a:bodyPr wrap="square" lIns="254" tIns="254" rIns="254" bIns="254" rtlCol="0" anchor="ctr">
            <a:normAutofit/>
          </a:bodyPr>
          <a:lstStyle/>
          <a:p>
            <a:pPr indent="0" marL="0">
              <a:buNone/>
            </a:pPr>
            <a:r>
              <a:rPr lang="en-US" sz="1030" dirty="0">
                <a:solidFill>
                  <a:srgbClr val="64748B"/>
                </a:solidFill>
              </a:rPr>
              <a:t>README, data dictionary notes, setup steps, and model/app limitations in GitHub.</a:t>
            </a:r>
            <a:endParaRPr lang="en-US" sz="1030" dirty="0"/>
          </a:p>
        </p:txBody>
      </p:sp>
      <p:sp>
        <p:nvSpPr>
          <p:cNvPr id="33" name="Text 31"/>
          <p:cNvSpPr/>
          <p:nvPr/>
        </p:nvSpPr>
        <p:spPr>
          <a:xfrm>
            <a:off x="960120" y="5687568"/>
            <a:ext cx="9966960" cy="347472"/>
          </a:xfrm>
          <a:prstGeom prst="rect">
            <a:avLst/>
          </a:prstGeom>
          <a:noFill/>
          <a:ln/>
        </p:spPr>
        <p:txBody>
          <a:bodyPr wrap="square" lIns="0" tIns="0" rIns="0" bIns="0" rtlCol="0" anchor="ctr">
            <a:normAutofit/>
          </a:bodyPr>
          <a:lstStyle/>
          <a:p>
            <a:pPr algn="ctr" indent="0" marL="0">
              <a:buNone/>
            </a:pPr>
            <a:r>
              <a:rPr lang="en-US" sz="1500" b="1" dirty="0">
                <a:solidFill>
                  <a:srgbClr val="0B172A"/>
                </a:solidFill>
              </a:rPr>
              <a:t>Success = a clear, reproducible tool that turns public complaint data into usable monitoring views.</a:t>
            </a:r>
            <a:endParaRPr lang="en-US" sz="1500" dirty="0"/>
          </a:p>
        </p:txBody>
      </p:sp>
      <p:sp>
        <p:nvSpPr>
          <p:cNvPr id="34" name="Text 32"/>
          <p:cNvSpPr/>
          <p:nvPr/>
        </p:nvSpPr>
        <p:spPr>
          <a:xfrm>
            <a:off x="548640" y="6473952"/>
            <a:ext cx="5303520" cy="201168"/>
          </a:xfrm>
          <a:prstGeom prst="rect">
            <a:avLst/>
          </a:prstGeom>
          <a:noFill/>
          <a:ln/>
        </p:spPr>
        <p:txBody>
          <a:bodyPr wrap="square" lIns="0" tIns="0" rIns="0" bIns="0" rtlCol="0" anchor="ctr">
            <a:normAutofit/>
          </a:bodyP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2A"/>
        </a:solidFill>
      </p:bgPr>
    </p:bg>
    <p:spTree>
      <p:nvGrpSpPr>
        <p:cNvPr id="1" name=""/>
        <p:cNvGrpSpPr/>
        <p:nvPr/>
      </p:nvGrpSpPr>
      <p:grpSpPr>
        <a:xfrm>
          <a:off x="0" y="0"/>
          <a:ext cx="0" cy="0"/>
          <a:chOff x="0" y="0"/>
          <a:chExt cx="0" cy="0"/>
        </a:xfrm>
      </p:grpSpPr>
      <p:pic>
        <p:nvPicPr>
          <p:cNvPr id="2" name="Image 0" descr="/mnt/data/arch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420624"/>
            <a:ext cx="749808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Preferred technical approach</a:t>
            </a:r>
            <a:endParaRPr lang="en-US" sz="2500" dirty="0"/>
          </a:p>
        </p:txBody>
      </p:sp>
      <p:sp>
        <p:nvSpPr>
          <p:cNvPr id="4" name="Text 1"/>
          <p:cNvSpPr/>
          <p:nvPr/>
        </p:nvSpPr>
        <p:spPr>
          <a:xfrm>
            <a:off x="566928" y="896112"/>
            <a:ext cx="7955280" cy="292608"/>
          </a:xfrm>
          <a:prstGeom prst="rect">
            <a:avLst/>
          </a:prstGeom>
          <a:noFill/>
          <a:ln/>
        </p:spPr>
        <p:txBody>
          <a:bodyPr wrap="square" lIns="0" tIns="0" rIns="0" bIns="0" rtlCol="0" anchor="ctr">
            <a:normAutofit/>
          </a:bodyPr>
          <a:lstStyle/>
          <a:p>
            <a:pPr indent="0" marL="0">
              <a:buNone/>
            </a:pPr>
            <a:r>
              <a:rPr lang="en-US" sz="1250" dirty="0">
                <a:solidFill>
                  <a:srgbClr val="C7D2FE"/>
                </a:solidFill>
              </a:rPr>
              <a:t>Cloud-service-based application with PaaS-style deployment.</a:t>
            </a:r>
            <a:endParaRPr lang="en-US" sz="1250" dirty="0"/>
          </a:p>
        </p:txBody>
      </p:sp>
      <p:sp>
        <p:nvSpPr>
          <p:cNvPr id="5" name="Shape 2"/>
          <p:cNvSpPr/>
          <p:nvPr/>
        </p:nvSpPr>
        <p:spPr>
          <a:xfrm>
            <a:off x="566928" y="1243584"/>
            <a:ext cx="1920240" cy="0"/>
          </a:xfrm>
          <a:prstGeom prst="line">
            <a:avLst/>
          </a:prstGeom>
          <a:noFill/>
          <a:ln w="31750">
            <a:solidFill>
              <a:srgbClr val="52D6E0"/>
            </a:solidFill>
            <a:prstDash val="solid"/>
          </a:ln>
        </p:spPr>
      </p:sp>
      <p:sp>
        <p:nvSpPr>
          <p:cNvPr id="6" name="Shape 3"/>
          <p:cNvSpPr/>
          <p:nvPr/>
        </p:nvSpPr>
        <p:spPr>
          <a:xfrm>
            <a:off x="731520" y="1691640"/>
            <a:ext cx="2377440" cy="1234440"/>
          </a:xfrm>
          <a:prstGeom prst="roundRect">
            <a:avLst>
              <a:gd name="adj" fmla="val 8889"/>
            </a:avLst>
          </a:prstGeom>
          <a:solidFill>
            <a:srgbClr val="13294B">
              <a:alpha val="94000"/>
            </a:srgbClr>
          </a:solidFill>
          <a:ln w="12700">
            <a:solidFill>
              <a:srgbClr val="2D4A72">
                <a:alpha val="80000"/>
              </a:srgbClr>
            </a:solidFill>
            <a:prstDash val="solid"/>
          </a:ln>
        </p:spPr>
      </p:sp>
      <p:sp>
        <p:nvSpPr>
          <p:cNvPr id="7" name="Shape 4"/>
          <p:cNvSpPr/>
          <p:nvPr/>
        </p:nvSpPr>
        <p:spPr>
          <a:xfrm>
            <a:off x="877824" y="1892808"/>
            <a:ext cx="640080" cy="0"/>
          </a:xfrm>
          <a:prstGeom prst="line">
            <a:avLst/>
          </a:prstGeom>
          <a:noFill/>
          <a:ln w="25400">
            <a:solidFill>
              <a:srgbClr val="52D6E0"/>
            </a:solidFill>
            <a:prstDash val="solid"/>
          </a:ln>
        </p:spPr>
      </p:sp>
      <p:sp>
        <p:nvSpPr>
          <p:cNvPr id="8" name="Text 5"/>
          <p:cNvSpPr/>
          <p:nvPr/>
        </p:nvSpPr>
        <p:spPr>
          <a:xfrm>
            <a:off x="877824" y="2039112"/>
            <a:ext cx="20848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Data layer</a:t>
            </a:r>
            <a:endParaRPr lang="en-US" sz="1300" dirty="0"/>
          </a:p>
        </p:txBody>
      </p:sp>
      <p:sp>
        <p:nvSpPr>
          <p:cNvPr id="9" name="Text 6"/>
          <p:cNvSpPr/>
          <p:nvPr/>
        </p:nvSpPr>
        <p:spPr>
          <a:xfrm>
            <a:off x="877824" y="2404872"/>
            <a:ext cx="2084832" cy="41148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BigQuery public dataset for CFPB complaint data; limit queries to control cost.</a:t>
            </a:r>
            <a:endParaRPr lang="en-US" sz="1020" dirty="0"/>
          </a:p>
        </p:txBody>
      </p:sp>
      <p:sp>
        <p:nvSpPr>
          <p:cNvPr id="10" name="Shape 7"/>
          <p:cNvSpPr/>
          <p:nvPr/>
        </p:nvSpPr>
        <p:spPr>
          <a:xfrm>
            <a:off x="3383280" y="1691640"/>
            <a:ext cx="2377440" cy="1234440"/>
          </a:xfrm>
          <a:prstGeom prst="roundRect">
            <a:avLst>
              <a:gd name="adj" fmla="val 8889"/>
            </a:avLst>
          </a:prstGeom>
          <a:solidFill>
            <a:srgbClr val="13294B">
              <a:alpha val="94000"/>
            </a:srgbClr>
          </a:solidFill>
          <a:ln w="12700">
            <a:solidFill>
              <a:srgbClr val="2D4A72">
                <a:alpha val="80000"/>
              </a:srgbClr>
            </a:solidFill>
            <a:prstDash val="solid"/>
          </a:ln>
        </p:spPr>
      </p:sp>
      <p:sp>
        <p:nvSpPr>
          <p:cNvPr id="11" name="Shape 8"/>
          <p:cNvSpPr/>
          <p:nvPr/>
        </p:nvSpPr>
        <p:spPr>
          <a:xfrm>
            <a:off x="3529584" y="1892808"/>
            <a:ext cx="640080" cy="0"/>
          </a:xfrm>
          <a:prstGeom prst="line">
            <a:avLst/>
          </a:prstGeom>
          <a:noFill/>
          <a:ln w="25400">
            <a:solidFill>
              <a:srgbClr val="F4B740"/>
            </a:solidFill>
            <a:prstDash val="solid"/>
          </a:ln>
        </p:spPr>
      </p:sp>
      <p:sp>
        <p:nvSpPr>
          <p:cNvPr id="12" name="Text 9"/>
          <p:cNvSpPr/>
          <p:nvPr/>
        </p:nvSpPr>
        <p:spPr>
          <a:xfrm>
            <a:off x="3529584" y="2039112"/>
            <a:ext cx="20848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Processing layer</a:t>
            </a:r>
            <a:endParaRPr lang="en-US" sz="1300" dirty="0"/>
          </a:p>
        </p:txBody>
      </p:sp>
      <p:sp>
        <p:nvSpPr>
          <p:cNvPr id="13" name="Text 10"/>
          <p:cNvSpPr/>
          <p:nvPr/>
        </p:nvSpPr>
        <p:spPr>
          <a:xfrm>
            <a:off x="3529584" y="2404872"/>
            <a:ext cx="2084832" cy="41148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Python for data cleaning, feature creation, validation, and optional modeling.</a:t>
            </a:r>
            <a:endParaRPr lang="en-US" sz="1020" dirty="0"/>
          </a:p>
        </p:txBody>
      </p:sp>
      <p:sp>
        <p:nvSpPr>
          <p:cNvPr id="14" name="Shape 11"/>
          <p:cNvSpPr/>
          <p:nvPr/>
        </p:nvSpPr>
        <p:spPr>
          <a:xfrm>
            <a:off x="6035040" y="1691640"/>
            <a:ext cx="2377440" cy="1234440"/>
          </a:xfrm>
          <a:prstGeom prst="roundRect">
            <a:avLst>
              <a:gd name="adj" fmla="val 8889"/>
            </a:avLst>
          </a:prstGeom>
          <a:solidFill>
            <a:srgbClr val="13294B">
              <a:alpha val="94000"/>
            </a:srgbClr>
          </a:solidFill>
          <a:ln w="12700">
            <a:solidFill>
              <a:srgbClr val="2D4A72">
                <a:alpha val="80000"/>
              </a:srgbClr>
            </a:solidFill>
            <a:prstDash val="solid"/>
          </a:ln>
        </p:spPr>
      </p:sp>
      <p:sp>
        <p:nvSpPr>
          <p:cNvPr id="15" name="Shape 12"/>
          <p:cNvSpPr/>
          <p:nvPr/>
        </p:nvSpPr>
        <p:spPr>
          <a:xfrm>
            <a:off x="6181344" y="1892808"/>
            <a:ext cx="640080" cy="0"/>
          </a:xfrm>
          <a:prstGeom prst="line">
            <a:avLst/>
          </a:prstGeom>
          <a:noFill/>
          <a:ln w="25400">
            <a:solidFill>
              <a:srgbClr val="49B778"/>
            </a:solidFill>
            <a:prstDash val="solid"/>
          </a:ln>
        </p:spPr>
      </p:sp>
      <p:sp>
        <p:nvSpPr>
          <p:cNvPr id="16" name="Text 13"/>
          <p:cNvSpPr/>
          <p:nvPr/>
        </p:nvSpPr>
        <p:spPr>
          <a:xfrm>
            <a:off x="6181344" y="2039112"/>
            <a:ext cx="20848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App layer</a:t>
            </a:r>
            <a:endParaRPr lang="en-US" sz="1300" dirty="0"/>
          </a:p>
        </p:txBody>
      </p:sp>
      <p:sp>
        <p:nvSpPr>
          <p:cNvPr id="17" name="Text 14"/>
          <p:cNvSpPr/>
          <p:nvPr/>
        </p:nvSpPr>
        <p:spPr>
          <a:xfrm>
            <a:off x="6181344" y="2404872"/>
            <a:ext cx="2084832" cy="41148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Lightweight dashboard or web app for filters, metrics, trend charts, and risk flags.</a:t>
            </a:r>
            <a:endParaRPr lang="en-US" sz="1020" dirty="0"/>
          </a:p>
        </p:txBody>
      </p:sp>
      <p:sp>
        <p:nvSpPr>
          <p:cNvPr id="18" name="Shape 15"/>
          <p:cNvSpPr/>
          <p:nvPr/>
        </p:nvSpPr>
        <p:spPr>
          <a:xfrm>
            <a:off x="8686800" y="1691640"/>
            <a:ext cx="2377440" cy="1234440"/>
          </a:xfrm>
          <a:prstGeom prst="roundRect">
            <a:avLst>
              <a:gd name="adj" fmla="val 8889"/>
            </a:avLst>
          </a:prstGeom>
          <a:solidFill>
            <a:srgbClr val="13294B">
              <a:alpha val="94000"/>
            </a:srgbClr>
          </a:solidFill>
          <a:ln w="12700">
            <a:solidFill>
              <a:srgbClr val="2D4A72">
                <a:alpha val="80000"/>
              </a:srgbClr>
            </a:solidFill>
            <a:prstDash val="solid"/>
          </a:ln>
        </p:spPr>
      </p:sp>
      <p:sp>
        <p:nvSpPr>
          <p:cNvPr id="19" name="Shape 16"/>
          <p:cNvSpPr/>
          <p:nvPr/>
        </p:nvSpPr>
        <p:spPr>
          <a:xfrm>
            <a:off x="8833104" y="1892808"/>
            <a:ext cx="640080" cy="0"/>
          </a:xfrm>
          <a:prstGeom prst="line">
            <a:avLst/>
          </a:prstGeom>
          <a:noFill/>
          <a:ln w="25400">
            <a:solidFill>
              <a:srgbClr val="E96060"/>
            </a:solidFill>
            <a:prstDash val="solid"/>
          </a:ln>
        </p:spPr>
      </p:sp>
      <p:sp>
        <p:nvSpPr>
          <p:cNvPr id="20" name="Text 17"/>
          <p:cNvSpPr/>
          <p:nvPr/>
        </p:nvSpPr>
        <p:spPr>
          <a:xfrm>
            <a:off x="8833104" y="2039112"/>
            <a:ext cx="208483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Deployment layer</a:t>
            </a:r>
            <a:endParaRPr lang="en-US" sz="1300" dirty="0"/>
          </a:p>
        </p:txBody>
      </p:sp>
      <p:sp>
        <p:nvSpPr>
          <p:cNvPr id="21" name="Text 18"/>
          <p:cNvSpPr/>
          <p:nvPr/>
        </p:nvSpPr>
        <p:spPr>
          <a:xfrm>
            <a:off x="8833104" y="2404872"/>
            <a:ext cx="2084832" cy="41148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Cloud Run or App Engine can reduce server management while supporting cloud deployment.</a:t>
            </a:r>
            <a:endParaRPr lang="en-US" sz="1020" dirty="0"/>
          </a:p>
        </p:txBody>
      </p:sp>
      <p:sp>
        <p:nvSpPr>
          <p:cNvPr id="22" name="Text 19"/>
          <p:cNvSpPr/>
          <p:nvPr/>
        </p:nvSpPr>
        <p:spPr>
          <a:xfrm>
            <a:off x="1005840" y="3931920"/>
            <a:ext cx="3657600" cy="274320"/>
          </a:xfrm>
          <a:prstGeom prst="rect">
            <a:avLst/>
          </a:prstGeom>
          <a:noFill/>
          <a:ln/>
        </p:spPr>
        <p:txBody>
          <a:bodyPr wrap="square" lIns="0" tIns="0" rIns="0" bIns="0" rtlCol="0" anchor="ctr"/>
          <a:lstStyle/>
          <a:p>
            <a:pPr indent="0" marL="0">
              <a:buNone/>
            </a:pPr>
            <a:r>
              <a:rPr lang="en-US" sz="1450" b="1" dirty="0">
                <a:solidFill>
                  <a:srgbClr val="FFFFFF"/>
                </a:solidFill>
              </a:rPr>
              <a:t>Why not manage everything manually?</a:t>
            </a:r>
            <a:endParaRPr lang="en-US" sz="1450" dirty="0"/>
          </a:p>
        </p:txBody>
      </p:sp>
      <p:sp>
        <p:nvSpPr>
          <p:cNvPr id="23" name="Text 20"/>
          <p:cNvSpPr/>
          <p:nvPr/>
        </p:nvSpPr>
        <p:spPr>
          <a:xfrm>
            <a:off x="1005840" y="4343400"/>
            <a:ext cx="5532120" cy="713232"/>
          </a:xfrm>
          <a:prstGeom prst="rect">
            <a:avLst/>
          </a:prstGeom>
          <a:noFill/>
          <a:ln/>
        </p:spPr>
        <p:txBody>
          <a:bodyPr wrap="square" lIns="0" tIns="0" rIns="0" bIns="0" rtlCol="0" anchor="ctr">
            <a:normAutofit/>
          </a:bodyPr>
          <a:lstStyle/>
          <a:p>
            <a:pPr indent="0" marL="0">
              <a:buNone/>
            </a:pPr>
            <a:r>
              <a:rPr lang="en-US" sz="1240" dirty="0">
                <a:solidFill>
                  <a:srgbClr val="D9E7FA"/>
                </a:solidFill>
              </a:rPr>
              <a:t>The project goal is the analytics application, not server administration. Managed cloud services let the project stay focused on risk monitoring, data quality, and user-facing functionality.</a:t>
            </a:r>
            <a:endParaRPr lang="en-US" sz="1240" dirty="0"/>
          </a:p>
        </p:txBody>
      </p:sp>
      <p:sp>
        <p:nvSpPr>
          <p:cNvPr id="24" name="Text 21"/>
          <p:cNvSpPr/>
          <p:nvPr/>
        </p:nvSpPr>
        <p:spPr>
          <a:xfrm>
            <a:off x="1005840" y="5257800"/>
            <a:ext cx="6766560" cy="292608"/>
          </a:xfrm>
          <a:prstGeom prst="rect">
            <a:avLst/>
          </a:prstGeom>
          <a:noFill/>
          <a:ln/>
        </p:spPr>
        <p:txBody>
          <a:bodyPr wrap="square" lIns="0" tIns="0" rIns="0" bIns="0" rtlCol="0" anchor="ctr">
            <a:normAutofit/>
          </a:bodyPr>
          <a:lstStyle/>
          <a:p>
            <a:pPr indent="0" marL="0">
              <a:buNone/>
            </a:pPr>
            <a:r>
              <a:rPr lang="en-US" sz="1260" b="1" dirty="0">
                <a:solidFill>
                  <a:srgbClr val="52D6E0"/>
                </a:solidFill>
              </a:rPr>
              <a:t>GitHub remains the source of truth for code, SQL, docs, issues, and deployment files.</a:t>
            </a:r>
            <a:endParaRPr lang="en-US" sz="1260" dirty="0"/>
          </a:p>
        </p:txBody>
      </p:sp>
      <p:sp>
        <p:nvSpPr>
          <p:cNvPr id="25" name="Text 22"/>
          <p:cNvSpPr/>
          <p:nvPr/>
        </p:nvSpPr>
        <p:spPr>
          <a:xfrm>
            <a:off x="548640" y="6473952"/>
            <a:ext cx="5303520" cy="201168"/>
          </a:xfrm>
          <a:prstGeom prst="rect">
            <a:avLst/>
          </a:prstGeom>
          <a:noFill/>
          <a:ln/>
        </p:spPr>
        <p:txBody>
          <a:bodyPr wrap="square" lIns="0" tIns="0" rIns="0" bIns="0" rtlCol="0" anchor="ct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5623560" cy="411480"/>
          </a:xfrm>
          <a:prstGeom prst="rect">
            <a:avLst/>
          </a:prstGeom>
          <a:noFill/>
          <a:ln/>
        </p:spPr>
        <p:txBody>
          <a:bodyPr wrap="square" lIns="0" tIns="0" rIns="0" bIns="0" rtlCol="0" anchor="ctr">
            <a:normAutofit/>
          </a:bodyPr>
          <a:lstStyle/>
          <a:p>
            <a:pPr indent="0" marL="0">
              <a:buNone/>
            </a:pPr>
            <a:r>
              <a:rPr lang="en-US" sz="2400" b="1" dirty="0">
                <a:solidFill>
                  <a:srgbClr val="0B172A"/>
                </a:solidFill>
                <a:latin typeface="Aptos Display" pitchFamily="34" charset="0"/>
                <a:ea typeface="Aptos Display" pitchFamily="34" charset="-122"/>
                <a:cs typeface="Aptos Display" pitchFamily="34" charset="-120"/>
              </a:rPr>
              <a:t>Advantages &amp; disadvantages</a:t>
            </a:r>
            <a:endParaRPr lang="en-US" sz="2400" dirty="0"/>
          </a:p>
        </p:txBody>
      </p:sp>
      <p:sp>
        <p:nvSpPr>
          <p:cNvPr id="3" name="Text 1"/>
          <p:cNvSpPr/>
          <p:nvPr/>
        </p:nvSpPr>
        <p:spPr>
          <a:xfrm>
            <a:off x="548640" y="804672"/>
            <a:ext cx="5623560" cy="274320"/>
          </a:xfrm>
          <a:prstGeom prst="rect">
            <a:avLst/>
          </a:prstGeom>
          <a:noFill/>
          <a:ln/>
        </p:spPr>
        <p:txBody>
          <a:bodyPr wrap="square" lIns="0" tIns="0" rIns="0" bIns="0" rtlCol="0" anchor="ctr">
            <a:normAutofit/>
          </a:bodyPr>
          <a:lstStyle/>
          <a:p>
            <a:pPr indent="0" marL="0">
              <a:buNone/>
            </a:pPr>
            <a:r>
              <a:rPr lang="en-US" sz="1250" dirty="0">
                <a:solidFill>
                  <a:srgbClr val="64748B"/>
                </a:solidFill>
              </a:rPr>
              <a:t>The cloud-service approach fits the project, but the tradeoffs need to be managed.</a:t>
            </a:r>
            <a:endParaRPr lang="en-US" sz="1250" dirty="0"/>
          </a:p>
        </p:txBody>
      </p:sp>
      <p:sp>
        <p:nvSpPr>
          <p:cNvPr id="4" name="Shape 2"/>
          <p:cNvSpPr/>
          <p:nvPr/>
        </p:nvSpPr>
        <p:spPr>
          <a:xfrm>
            <a:off x="548640" y="1143000"/>
            <a:ext cx="1920240" cy="0"/>
          </a:xfrm>
          <a:prstGeom prst="line">
            <a:avLst/>
          </a:prstGeom>
          <a:noFill/>
          <a:ln w="31750">
            <a:solidFill>
              <a:srgbClr val="0FB7C2"/>
            </a:solidFill>
            <a:prstDash val="solid"/>
          </a:ln>
        </p:spPr>
      </p:sp>
      <p:sp>
        <p:nvSpPr>
          <p:cNvPr id="5" name="Shape 3"/>
          <p:cNvSpPr/>
          <p:nvPr/>
        </p:nvSpPr>
        <p:spPr>
          <a:xfrm>
            <a:off x="685800" y="1417320"/>
            <a:ext cx="5212080" cy="4389120"/>
          </a:xfrm>
          <a:prstGeom prst="roundRect">
            <a:avLst>
              <a:gd name="adj" fmla="val 3333"/>
            </a:avLst>
          </a:prstGeom>
          <a:solidFill>
            <a:srgbClr val="F1FBFC"/>
          </a:solidFill>
          <a:ln w="12700">
            <a:solidFill>
              <a:srgbClr val="B6EEF2"/>
            </a:solidFill>
            <a:prstDash val="solid"/>
          </a:ln>
        </p:spPr>
      </p:sp>
      <p:sp>
        <p:nvSpPr>
          <p:cNvPr id="6" name="Shape 4"/>
          <p:cNvSpPr/>
          <p:nvPr/>
        </p:nvSpPr>
        <p:spPr>
          <a:xfrm>
            <a:off x="6291072" y="1417320"/>
            <a:ext cx="5212080" cy="4389120"/>
          </a:xfrm>
          <a:prstGeom prst="roundRect">
            <a:avLst>
              <a:gd name="adj" fmla="val 3333"/>
            </a:avLst>
          </a:prstGeom>
          <a:solidFill>
            <a:srgbClr val="FFF7F7"/>
          </a:solidFill>
          <a:ln w="12700">
            <a:solidFill>
              <a:srgbClr val="F8CACA"/>
            </a:solidFill>
            <a:prstDash val="solid"/>
          </a:ln>
        </p:spPr>
      </p:sp>
      <p:sp>
        <p:nvSpPr>
          <p:cNvPr id="7" name="Text 5"/>
          <p:cNvSpPr/>
          <p:nvPr/>
        </p:nvSpPr>
        <p:spPr>
          <a:xfrm>
            <a:off x="1005840" y="1764792"/>
            <a:ext cx="2011680" cy="292608"/>
          </a:xfrm>
          <a:prstGeom prst="rect">
            <a:avLst/>
          </a:prstGeom>
          <a:noFill/>
          <a:ln/>
        </p:spPr>
        <p:txBody>
          <a:bodyPr wrap="square" lIns="0" tIns="0" rIns="0" bIns="0" rtlCol="0" anchor="ctr"/>
          <a:lstStyle/>
          <a:p>
            <a:pPr indent="0" marL="0">
              <a:buNone/>
            </a:pPr>
            <a:r>
              <a:rPr lang="en-US" sz="1800" b="1" dirty="0">
                <a:solidFill>
                  <a:srgbClr val="0B172A"/>
                </a:solidFill>
              </a:rPr>
              <a:t>Advantages</a:t>
            </a:r>
            <a:endParaRPr lang="en-US" sz="1800" dirty="0"/>
          </a:p>
        </p:txBody>
      </p:sp>
      <p:sp>
        <p:nvSpPr>
          <p:cNvPr id="8" name="Text 6"/>
          <p:cNvSpPr/>
          <p:nvPr/>
        </p:nvSpPr>
        <p:spPr>
          <a:xfrm>
            <a:off x="6611112" y="1764792"/>
            <a:ext cx="2194560" cy="292608"/>
          </a:xfrm>
          <a:prstGeom prst="rect">
            <a:avLst/>
          </a:prstGeom>
          <a:noFill/>
          <a:ln/>
        </p:spPr>
        <p:txBody>
          <a:bodyPr wrap="square" lIns="0" tIns="0" rIns="0" bIns="0" rtlCol="0" anchor="ctr"/>
          <a:lstStyle/>
          <a:p>
            <a:pPr indent="0" marL="0">
              <a:buNone/>
            </a:pPr>
            <a:r>
              <a:rPr lang="en-US" sz="1800" b="1" dirty="0">
                <a:solidFill>
                  <a:srgbClr val="0B172A"/>
                </a:solidFill>
              </a:rPr>
              <a:t>Disadvantages</a:t>
            </a:r>
            <a:endParaRPr lang="en-US" sz="1800" dirty="0"/>
          </a:p>
        </p:txBody>
      </p:sp>
      <p:sp>
        <p:nvSpPr>
          <p:cNvPr id="9" name="Text 7"/>
          <p:cNvSpPr/>
          <p:nvPr/>
        </p:nvSpPr>
        <p:spPr>
          <a:xfrm>
            <a:off x="1005840" y="2395728"/>
            <a:ext cx="237744" cy="201168"/>
          </a:xfrm>
          <a:prstGeom prst="rect">
            <a:avLst/>
          </a:prstGeom>
          <a:noFill/>
          <a:ln/>
        </p:spPr>
        <p:txBody>
          <a:bodyPr wrap="square" lIns="0" tIns="0" rIns="0" bIns="0" rtlCol="0" anchor="ctr"/>
          <a:lstStyle/>
          <a:p>
            <a:pPr indent="0" marL="0">
              <a:buNone/>
            </a:pPr>
            <a:r>
              <a:rPr lang="en-US" sz="1300" b="1" dirty="0">
                <a:solidFill>
                  <a:srgbClr val="49B778"/>
                </a:solidFill>
              </a:rPr>
              <a:t>✓</a:t>
            </a:r>
            <a:endParaRPr lang="en-US" sz="1300" dirty="0"/>
          </a:p>
        </p:txBody>
      </p:sp>
      <p:sp>
        <p:nvSpPr>
          <p:cNvPr id="10" name="Text 8"/>
          <p:cNvSpPr/>
          <p:nvPr/>
        </p:nvSpPr>
        <p:spPr>
          <a:xfrm>
            <a:off x="1325880" y="2377440"/>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Less infrastructure to manage</a:t>
            </a:r>
            <a:endParaRPr lang="en-US" sz="1220" dirty="0"/>
          </a:p>
        </p:txBody>
      </p:sp>
      <p:sp>
        <p:nvSpPr>
          <p:cNvPr id="11" name="Text 9"/>
          <p:cNvSpPr/>
          <p:nvPr/>
        </p:nvSpPr>
        <p:spPr>
          <a:xfrm>
            <a:off x="1005840" y="2907792"/>
            <a:ext cx="237744" cy="201168"/>
          </a:xfrm>
          <a:prstGeom prst="rect">
            <a:avLst/>
          </a:prstGeom>
          <a:noFill/>
          <a:ln/>
        </p:spPr>
        <p:txBody>
          <a:bodyPr wrap="square" lIns="0" tIns="0" rIns="0" bIns="0" rtlCol="0" anchor="ctr"/>
          <a:lstStyle/>
          <a:p>
            <a:pPr indent="0" marL="0">
              <a:buNone/>
            </a:pPr>
            <a:r>
              <a:rPr lang="en-US" sz="1300" b="1" dirty="0">
                <a:solidFill>
                  <a:srgbClr val="49B778"/>
                </a:solidFill>
              </a:rPr>
              <a:t>✓</a:t>
            </a:r>
            <a:endParaRPr lang="en-US" sz="1300" dirty="0"/>
          </a:p>
        </p:txBody>
      </p:sp>
      <p:sp>
        <p:nvSpPr>
          <p:cNvPr id="12" name="Text 10"/>
          <p:cNvSpPr/>
          <p:nvPr/>
        </p:nvSpPr>
        <p:spPr>
          <a:xfrm>
            <a:off x="1325880" y="2889504"/>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BigQuery aligns with the dataset location</a:t>
            </a:r>
            <a:endParaRPr lang="en-US" sz="1220" dirty="0"/>
          </a:p>
        </p:txBody>
      </p:sp>
      <p:sp>
        <p:nvSpPr>
          <p:cNvPr id="13" name="Text 11"/>
          <p:cNvSpPr/>
          <p:nvPr/>
        </p:nvSpPr>
        <p:spPr>
          <a:xfrm>
            <a:off x="1005840" y="3419856"/>
            <a:ext cx="237744" cy="201168"/>
          </a:xfrm>
          <a:prstGeom prst="rect">
            <a:avLst/>
          </a:prstGeom>
          <a:noFill/>
          <a:ln/>
        </p:spPr>
        <p:txBody>
          <a:bodyPr wrap="square" lIns="0" tIns="0" rIns="0" bIns="0" rtlCol="0" anchor="ctr"/>
          <a:lstStyle/>
          <a:p>
            <a:pPr indent="0" marL="0">
              <a:buNone/>
            </a:pPr>
            <a:r>
              <a:rPr lang="en-US" sz="1300" b="1" dirty="0">
                <a:solidFill>
                  <a:srgbClr val="49B778"/>
                </a:solidFill>
              </a:rPr>
              <a:t>✓</a:t>
            </a:r>
            <a:endParaRPr lang="en-US" sz="1300" dirty="0"/>
          </a:p>
        </p:txBody>
      </p:sp>
      <p:sp>
        <p:nvSpPr>
          <p:cNvPr id="14" name="Text 12"/>
          <p:cNvSpPr/>
          <p:nvPr/>
        </p:nvSpPr>
        <p:spPr>
          <a:xfrm>
            <a:off x="1325880" y="3401568"/>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Better scalability than local-only work</a:t>
            </a:r>
            <a:endParaRPr lang="en-US" sz="1220" dirty="0"/>
          </a:p>
        </p:txBody>
      </p:sp>
      <p:sp>
        <p:nvSpPr>
          <p:cNvPr id="15" name="Text 13"/>
          <p:cNvSpPr/>
          <p:nvPr/>
        </p:nvSpPr>
        <p:spPr>
          <a:xfrm>
            <a:off x="1005840" y="3931920"/>
            <a:ext cx="237744" cy="201168"/>
          </a:xfrm>
          <a:prstGeom prst="rect">
            <a:avLst/>
          </a:prstGeom>
          <a:noFill/>
          <a:ln/>
        </p:spPr>
        <p:txBody>
          <a:bodyPr wrap="square" lIns="0" tIns="0" rIns="0" bIns="0" rtlCol="0" anchor="ctr"/>
          <a:lstStyle/>
          <a:p>
            <a:pPr indent="0" marL="0">
              <a:buNone/>
            </a:pPr>
            <a:r>
              <a:rPr lang="en-US" sz="1300" b="1" dirty="0">
                <a:solidFill>
                  <a:srgbClr val="49B778"/>
                </a:solidFill>
              </a:rPr>
              <a:t>✓</a:t>
            </a:r>
            <a:endParaRPr lang="en-US" sz="1300" dirty="0"/>
          </a:p>
        </p:txBody>
      </p:sp>
      <p:sp>
        <p:nvSpPr>
          <p:cNvPr id="16" name="Text 14"/>
          <p:cNvSpPr/>
          <p:nvPr/>
        </p:nvSpPr>
        <p:spPr>
          <a:xfrm>
            <a:off x="1325880" y="3913632"/>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Managed deployment options reduce setup burden</a:t>
            </a:r>
            <a:endParaRPr lang="en-US" sz="1220" dirty="0"/>
          </a:p>
        </p:txBody>
      </p:sp>
      <p:sp>
        <p:nvSpPr>
          <p:cNvPr id="17" name="Text 15"/>
          <p:cNvSpPr/>
          <p:nvPr/>
        </p:nvSpPr>
        <p:spPr>
          <a:xfrm>
            <a:off x="1005840" y="4443984"/>
            <a:ext cx="237744" cy="201168"/>
          </a:xfrm>
          <a:prstGeom prst="rect">
            <a:avLst/>
          </a:prstGeom>
          <a:noFill/>
          <a:ln/>
        </p:spPr>
        <p:txBody>
          <a:bodyPr wrap="square" lIns="0" tIns="0" rIns="0" bIns="0" rtlCol="0" anchor="ctr"/>
          <a:lstStyle/>
          <a:p>
            <a:pPr indent="0" marL="0">
              <a:buNone/>
            </a:pPr>
            <a:r>
              <a:rPr lang="en-US" sz="1300" b="1" dirty="0">
                <a:solidFill>
                  <a:srgbClr val="49B778"/>
                </a:solidFill>
              </a:rPr>
              <a:t>✓</a:t>
            </a:r>
            <a:endParaRPr lang="en-US" sz="1300" dirty="0"/>
          </a:p>
        </p:txBody>
      </p:sp>
      <p:sp>
        <p:nvSpPr>
          <p:cNvPr id="18" name="Text 16"/>
          <p:cNvSpPr/>
          <p:nvPr/>
        </p:nvSpPr>
        <p:spPr>
          <a:xfrm>
            <a:off x="1325880" y="4425696"/>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GitHub supports reproducibility and SDLC tracking</a:t>
            </a:r>
            <a:endParaRPr lang="en-US" sz="1220" dirty="0"/>
          </a:p>
        </p:txBody>
      </p:sp>
      <p:sp>
        <p:nvSpPr>
          <p:cNvPr id="19" name="Text 17"/>
          <p:cNvSpPr/>
          <p:nvPr/>
        </p:nvSpPr>
        <p:spPr>
          <a:xfrm>
            <a:off x="6629400" y="2395728"/>
            <a:ext cx="237744" cy="201168"/>
          </a:xfrm>
          <a:prstGeom prst="rect">
            <a:avLst/>
          </a:prstGeom>
          <a:noFill/>
          <a:ln/>
        </p:spPr>
        <p:txBody>
          <a:bodyPr wrap="square" lIns="0" tIns="0" rIns="0" bIns="0" rtlCol="0" anchor="ctr"/>
          <a:lstStyle/>
          <a:p>
            <a:pPr indent="0" marL="0">
              <a:buNone/>
            </a:pPr>
            <a:r>
              <a:rPr lang="en-US" sz="1300" b="1" dirty="0">
                <a:solidFill>
                  <a:srgbClr val="E96060"/>
                </a:solidFill>
              </a:rPr>
              <a:t>!</a:t>
            </a:r>
            <a:endParaRPr lang="en-US" sz="1300" dirty="0"/>
          </a:p>
        </p:txBody>
      </p:sp>
      <p:sp>
        <p:nvSpPr>
          <p:cNvPr id="20" name="Text 18"/>
          <p:cNvSpPr/>
          <p:nvPr/>
        </p:nvSpPr>
        <p:spPr>
          <a:xfrm>
            <a:off x="6949440" y="2377440"/>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Learning curve for permissions and deployment</a:t>
            </a:r>
            <a:endParaRPr lang="en-US" sz="1220" dirty="0"/>
          </a:p>
        </p:txBody>
      </p:sp>
      <p:sp>
        <p:nvSpPr>
          <p:cNvPr id="21" name="Text 19"/>
          <p:cNvSpPr/>
          <p:nvPr/>
        </p:nvSpPr>
        <p:spPr>
          <a:xfrm>
            <a:off x="6629400" y="2907792"/>
            <a:ext cx="237744" cy="201168"/>
          </a:xfrm>
          <a:prstGeom prst="rect">
            <a:avLst/>
          </a:prstGeom>
          <a:noFill/>
          <a:ln/>
        </p:spPr>
        <p:txBody>
          <a:bodyPr wrap="square" lIns="0" tIns="0" rIns="0" bIns="0" rtlCol="0" anchor="ctr"/>
          <a:lstStyle/>
          <a:p>
            <a:pPr indent="0" marL="0">
              <a:buNone/>
            </a:pPr>
            <a:r>
              <a:rPr lang="en-US" sz="1300" b="1" dirty="0">
                <a:solidFill>
                  <a:srgbClr val="E96060"/>
                </a:solidFill>
              </a:rPr>
              <a:t>!</a:t>
            </a:r>
            <a:endParaRPr lang="en-US" sz="1300" dirty="0"/>
          </a:p>
        </p:txBody>
      </p:sp>
      <p:sp>
        <p:nvSpPr>
          <p:cNvPr id="22" name="Text 20"/>
          <p:cNvSpPr/>
          <p:nvPr/>
        </p:nvSpPr>
        <p:spPr>
          <a:xfrm>
            <a:off x="6949440" y="2889504"/>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Query costs must be monitored</a:t>
            </a:r>
            <a:endParaRPr lang="en-US" sz="1220" dirty="0"/>
          </a:p>
        </p:txBody>
      </p:sp>
      <p:sp>
        <p:nvSpPr>
          <p:cNvPr id="23" name="Text 21"/>
          <p:cNvSpPr/>
          <p:nvPr/>
        </p:nvSpPr>
        <p:spPr>
          <a:xfrm>
            <a:off x="6629400" y="3419856"/>
            <a:ext cx="237744" cy="201168"/>
          </a:xfrm>
          <a:prstGeom prst="rect">
            <a:avLst/>
          </a:prstGeom>
          <a:noFill/>
          <a:ln/>
        </p:spPr>
        <p:txBody>
          <a:bodyPr wrap="square" lIns="0" tIns="0" rIns="0" bIns="0" rtlCol="0" anchor="ctr"/>
          <a:lstStyle/>
          <a:p>
            <a:pPr indent="0" marL="0">
              <a:buNone/>
            </a:pPr>
            <a:r>
              <a:rPr lang="en-US" sz="1300" b="1" dirty="0">
                <a:solidFill>
                  <a:srgbClr val="E96060"/>
                </a:solidFill>
              </a:rPr>
              <a:t>!</a:t>
            </a:r>
            <a:endParaRPr lang="en-US" sz="1300" dirty="0"/>
          </a:p>
        </p:txBody>
      </p:sp>
      <p:sp>
        <p:nvSpPr>
          <p:cNvPr id="24" name="Text 22"/>
          <p:cNvSpPr/>
          <p:nvPr/>
        </p:nvSpPr>
        <p:spPr>
          <a:xfrm>
            <a:off x="6949440" y="3401568"/>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More dependence on one cloud provider</a:t>
            </a:r>
            <a:endParaRPr lang="en-US" sz="1220" dirty="0"/>
          </a:p>
        </p:txBody>
      </p:sp>
      <p:sp>
        <p:nvSpPr>
          <p:cNvPr id="25" name="Text 23"/>
          <p:cNvSpPr/>
          <p:nvPr/>
        </p:nvSpPr>
        <p:spPr>
          <a:xfrm>
            <a:off x="6629400" y="3931920"/>
            <a:ext cx="237744" cy="201168"/>
          </a:xfrm>
          <a:prstGeom prst="rect">
            <a:avLst/>
          </a:prstGeom>
          <a:noFill/>
          <a:ln/>
        </p:spPr>
        <p:txBody>
          <a:bodyPr wrap="square" lIns="0" tIns="0" rIns="0" bIns="0" rtlCol="0" anchor="ctr"/>
          <a:lstStyle/>
          <a:p>
            <a:pPr indent="0" marL="0">
              <a:buNone/>
            </a:pPr>
            <a:r>
              <a:rPr lang="en-US" sz="1300" b="1" dirty="0">
                <a:solidFill>
                  <a:srgbClr val="E96060"/>
                </a:solidFill>
              </a:rPr>
              <a:t>!</a:t>
            </a:r>
            <a:endParaRPr lang="en-US" sz="1300" dirty="0"/>
          </a:p>
        </p:txBody>
      </p:sp>
      <p:sp>
        <p:nvSpPr>
          <p:cNvPr id="26" name="Text 24"/>
          <p:cNvSpPr/>
          <p:nvPr/>
        </p:nvSpPr>
        <p:spPr>
          <a:xfrm>
            <a:off x="6949440" y="3913632"/>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Debugging can be harder than local execution</a:t>
            </a:r>
            <a:endParaRPr lang="en-US" sz="1220" dirty="0"/>
          </a:p>
        </p:txBody>
      </p:sp>
      <p:sp>
        <p:nvSpPr>
          <p:cNvPr id="27" name="Text 25"/>
          <p:cNvSpPr/>
          <p:nvPr/>
        </p:nvSpPr>
        <p:spPr>
          <a:xfrm>
            <a:off x="6629400" y="4443984"/>
            <a:ext cx="237744" cy="201168"/>
          </a:xfrm>
          <a:prstGeom prst="rect">
            <a:avLst/>
          </a:prstGeom>
          <a:noFill/>
          <a:ln/>
        </p:spPr>
        <p:txBody>
          <a:bodyPr wrap="square" lIns="0" tIns="0" rIns="0" bIns="0" rtlCol="0" anchor="ctr"/>
          <a:lstStyle/>
          <a:p>
            <a:pPr indent="0" marL="0">
              <a:buNone/>
            </a:pPr>
            <a:r>
              <a:rPr lang="en-US" sz="1300" b="1" dirty="0">
                <a:solidFill>
                  <a:srgbClr val="E96060"/>
                </a:solidFill>
              </a:rPr>
              <a:t>!</a:t>
            </a:r>
            <a:endParaRPr lang="en-US" sz="1300" dirty="0"/>
          </a:p>
        </p:txBody>
      </p:sp>
      <p:sp>
        <p:nvSpPr>
          <p:cNvPr id="28" name="Text 26"/>
          <p:cNvSpPr/>
          <p:nvPr/>
        </p:nvSpPr>
        <p:spPr>
          <a:xfrm>
            <a:off x="6949440" y="4425696"/>
            <a:ext cx="4251960" cy="237744"/>
          </a:xfrm>
          <a:prstGeom prst="rect">
            <a:avLst/>
          </a:prstGeom>
          <a:noFill/>
          <a:ln/>
        </p:spPr>
        <p:txBody>
          <a:bodyPr wrap="square" lIns="0" tIns="0" rIns="0" bIns="0" rtlCol="0" anchor="ctr">
            <a:normAutofit/>
          </a:bodyPr>
          <a:lstStyle/>
          <a:p>
            <a:pPr indent="0" marL="0">
              <a:buNone/>
            </a:pPr>
            <a:r>
              <a:rPr lang="en-US" sz="1220" dirty="0">
                <a:solidFill>
                  <a:srgbClr val="0B172A"/>
                </a:solidFill>
              </a:rPr>
              <a:t>Cloud setup could distract from analytics work</a:t>
            </a:r>
            <a:endParaRPr lang="en-US" sz="1220" dirty="0"/>
          </a:p>
        </p:txBody>
      </p:sp>
      <p:sp>
        <p:nvSpPr>
          <p:cNvPr id="29" name="Text 27"/>
          <p:cNvSpPr/>
          <p:nvPr/>
        </p:nvSpPr>
        <p:spPr>
          <a:xfrm>
            <a:off x="1051560" y="6071616"/>
            <a:ext cx="10058400" cy="256032"/>
          </a:xfrm>
          <a:prstGeom prst="rect">
            <a:avLst/>
          </a:prstGeom>
          <a:noFill/>
          <a:ln/>
        </p:spPr>
        <p:txBody>
          <a:bodyPr wrap="square" lIns="0" tIns="0" rIns="0" bIns="0" rtlCol="0" anchor="ctr">
            <a:normAutofit/>
          </a:bodyPr>
          <a:lstStyle/>
          <a:p>
            <a:pPr algn="ctr" indent="0" marL="0">
              <a:buNone/>
            </a:pPr>
            <a:r>
              <a:rPr lang="en-US" sz="1350" b="1" dirty="0">
                <a:solidFill>
                  <a:srgbClr val="2B6CB0"/>
                </a:solidFill>
              </a:rPr>
              <a:t>Decision: use managed cloud services, but keep scope focused and monitor cost/query usage.</a:t>
            </a:r>
            <a:endParaRPr lang="en-US" sz="1350" dirty="0"/>
          </a:p>
        </p:txBody>
      </p:sp>
      <p:sp>
        <p:nvSpPr>
          <p:cNvPr id="30" name="Text 28"/>
          <p:cNvSpPr/>
          <p:nvPr/>
        </p:nvSpPr>
        <p:spPr>
          <a:xfrm>
            <a:off x="548640" y="6473952"/>
            <a:ext cx="5303520" cy="201168"/>
          </a:xfrm>
          <a:prstGeom prst="rect">
            <a:avLst/>
          </a:prstGeom>
          <a:noFill/>
          <a:ln/>
        </p:spPr>
        <p:txBody>
          <a:bodyPr wrap="square" lIns="0" tIns="0" rIns="0" bIns="0" rtlCol="0" anchor="ctr">
            <a:normAutofit/>
          </a:bodyP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72A"/>
        </a:solidFill>
      </p:bgPr>
    </p:bg>
    <p:spTree>
      <p:nvGrpSpPr>
        <p:cNvPr id="1" name=""/>
        <p:cNvGrpSpPr/>
        <p:nvPr/>
      </p:nvGrpSpPr>
      <p:grpSpPr>
        <a:xfrm>
          <a:off x="0" y="0"/>
          <a:ext cx="0" cy="0"/>
          <a:chOff x="0" y="0"/>
          <a:chExt cx="0" cy="0"/>
        </a:xfrm>
      </p:grpSpPr>
      <p:pic>
        <p:nvPicPr>
          <p:cNvPr id="2" name="Image 0" descr="/mnt/data/hero_wid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420624"/>
            <a:ext cx="749808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GitHub &amp; lifecycle support</a:t>
            </a:r>
            <a:endParaRPr lang="en-US" sz="2500" dirty="0"/>
          </a:p>
        </p:txBody>
      </p:sp>
      <p:sp>
        <p:nvSpPr>
          <p:cNvPr id="4" name="Text 1"/>
          <p:cNvSpPr/>
          <p:nvPr/>
        </p:nvSpPr>
        <p:spPr>
          <a:xfrm>
            <a:off x="566928" y="896112"/>
            <a:ext cx="7955280" cy="292608"/>
          </a:xfrm>
          <a:prstGeom prst="rect">
            <a:avLst/>
          </a:prstGeom>
          <a:noFill/>
          <a:ln/>
        </p:spPr>
        <p:txBody>
          <a:bodyPr wrap="square" lIns="0" tIns="0" rIns="0" bIns="0" rtlCol="0" anchor="ctr">
            <a:normAutofit/>
          </a:bodyPr>
          <a:lstStyle/>
          <a:p>
            <a:pPr indent="0" marL="0">
              <a:buNone/>
            </a:pPr>
            <a:r>
              <a:rPr lang="en-US" sz="1250" dirty="0">
                <a:solidFill>
                  <a:srgbClr val="C7D2FE"/>
                </a:solidFill>
              </a:rPr>
              <a:t>The repository becomes the project record from planning through delivery.</a:t>
            </a:r>
            <a:endParaRPr lang="en-US" sz="1250" dirty="0"/>
          </a:p>
        </p:txBody>
      </p:sp>
      <p:sp>
        <p:nvSpPr>
          <p:cNvPr id="5" name="Shape 2"/>
          <p:cNvSpPr/>
          <p:nvPr/>
        </p:nvSpPr>
        <p:spPr>
          <a:xfrm>
            <a:off x="566928" y="1243584"/>
            <a:ext cx="1920240" cy="0"/>
          </a:xfrm>
          <a:prstGeom prst="line">
            <a:avLst/>
          </a:prstGeom>
          <a:noFill/>
          <a:ln w="31750">
            <a:solidFill>
              <a:srgbClr val="52D6E0"/>
            </a:solidFill>
            <a:prstDash val="solid"/>
          </a:ln>
        </p:spPr>
      </p:sp>
      <p:sp>
        <p:nvSpPr>
          <p:cNvPr id="6" name="Shape 3"/>
          <p:cNvSpPr/>
          <p:nvPr/>
        </p:nvSpPr>
        <p:spPr>
          <a:xfrm>
            <a:off x="822960" y="1700784"/>
            <a:ext cx="2423160" cy="1280160"/>
          </a:xfrm>
          <a:prstGeom prst="roundRect">
            <a:avLst>
              <a:gd name="adj" fmla="val 8571"/>
            </a:avLst>
          </a:prstGeom>
          <a:solidFill>
            <a:srgbClr val="13294B">
              <a:alpha val="94000"/>
            </a:srgbClr>
          </a:solidFill>
          <a:ln w="12700">
            <a:solidFill>
              <a:srgbClr val="2D4A72">
                <a:alpha val="80000"/>
              </a:srgbClr>
            </a:solidFill>
            <a:prstDash val="solid"/>
          </a:ln>
        </p:spPr>
      </p:sp>
      <p:sp>
        <p:nvSpPr>
          <p:cNvPr id="7" name="Shape 4"/>
          <p:cNvSpPr/>
          <p:nvPr/>
        </p:nvSpPr>
        <p:spPr>
          <a:xfrm>
            <a:off x="969264" y="1901952"/>
            <a:ext cx="640080" cy="0"/>
          </a:xfrm>
          <a:prstGeom prst="line">
            <a:avLst/>
          </a:prstGeom>
          <a:noFill/>
          <a:ln w="25400">
            <a:solidFill>
              <a:srgbClr val="52D6E0"/>
            </a:solidFill>
            <a:prstDash val="solid"/>
          </a:ln>
        </p:spPr>
      </p:sp>
      <p:sp>
        <p:nvSpPr>
          <p:cNvPr id="8" name="Text 5"/>
          <p:cNvSpPr/>
          <p:nvPr/>
        </p:nvSpPr>
        <p:spPr>
          <a:xfrm>
            <a:off x="969264" y="2048256"/>
            <a:ext cx="213055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Plan</a:t>
            </a:r>
            <a:endParaRPr lang="en-US" sz="1300" dirty="0"/>
          </a:p>
        </p:txBody>
      </p:sp>
      <p:sp>
        <p:nvSpPr>
          <p:cNvPr id="9" name="Text 6"/>
          <p:cNvSpPr/>
          <p:nvPr/>
        </p:nvSpPr>
        <p:spPr>
          <a:xfrm>
            <a:off x="969264" y="2414016"/>
            <a:ext cx="2130552" cy="45720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README, functional spec, scope, assumptions, data dictionary notes, and issues.</a:t>
            </a:r>
            <a:endParaRPr lang="en-US" sz="1020" dirty="0"/>
          </a:p>
        </p:txBody>
      </p:sp>
      <p:sp>
        <p:nvSpPr>
          <p:cNvPr id="10" name="Shape 7"/>
          <p:cNvSpPr/>
          <p:nvPr/>
        </p:nvSpPr>
        <p:spPr>
          <a:xfrm>
            <a:off x="3520440" y="1700784"/>
            <a:ext cx="2423160" cy="1280160"/>
          </a:xfrm>
          <a:prstGeom prst="roundRect">
            <a:avLst>
              <a:gd name="adj" fmla="val 8571"/>
            </a:avLst>
          </a:prstGeom>
          <a:solidFill>
            <a:srgbClr val="13294B">
              <a:alpha val="94000"/>
            </a:srgbClr>
          </a:solidFill>
          <a:ln w="12700">
            <a:solidFill>
              <a:srgbClr val="2D4A72">
                <a:alpha val="80000"/>
              </a:srgbClr>
            </a:solidFill>
            <a:prstDash val="solid"/>
          </a:ln>
        </p:spPr>
      </p:sp>
      <p:sp>
        <p:nvSpPr>
          <p:cNvPr id="11" name="Shape 8"/>
          <p:cNvSpPr/>
          <p:nvPr/>
        </p:nvSpPr>
        <p:spPr>
          <a:xfrm>
            <a:off x="3666744" y="1901952"/>
            <a:ext cx="640080" cy="0"/>
          </a:xfrm>
          <a:prstGeom prst="line">
            <a:avLst/>
          </a:prstGeom>
          <a:noFill/>
          <a:ln w="25400">
            <a:solidFill>
              <a:srgbClr val="F4B740"/>
            </a:solidFill>
            <a:prstDash val="solid"/>
          </a:ln>
        </p:spPr>
      </p:sp>
      <p:sp>
        <p:nvSpPr>
          <p:cNvPr id="12" name="Text 9"/>
          <p:cNvSpPr/>
          <p:nvPr/>
        </p:nvSpPr>
        <p:spPr>
          <a:xfrm>
            <a:off x="3666744" y="2048256"/>
            <a:ext cx="213055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Build</a:t>
            </a:r>
            <a:endParaRPr lang="en-US" sz="1300" dirty="0"/>
          </a:p>
        </p:txBody>
      </p:sp>
      <p:sp>
        <p:nvSpPr>
          <p:cNvPr id="13" name="Text 10"/>
          <p:cNvSpPr/>
          <p:nvPr/>
        </p:nvSpPr>
        <p:spPr>
          <a:xfrm>
            <a:off x="3666744" y="2414016"/>
            <a:ext cx="2130552" cy="45720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Branches for dashboard work, data processing, and optional ML experiments.</a:t>
            </a:r>
            <a:endParaRPr lang="en-US" sz="1020" dirty="0"/>
          </a:p>
        </p:txBody>
      </p:sp>
      <p:sp>
        <p:nvSpPr>
          <p:cNvPr id="14" name="Shape 11"/>
          <p:cNvSpPr/>
          <p:nvPr/>
        </p:nvSpPr>
        <p:spPr>
          <a:xfrm>
            <a:off x="6217920" y="1700784"/>
            <a:ext cx="2423160" cy="1280160"/>
          </a:xfrm>
          <a:prstGeom prst="roundRect">
            <a:avLst>
              <a:gd name="adj" fmla="val 8571"/>
            </a:avLst>
          </a:prstGeom>
          <a:solidFill>
            <a:srgbClr val="13294B">
              <a:alpha val="94000"/>
            </a:srgbClr>
          </a:solidFill>
          <a:ln w="12700">
            <a:solidFill>
              <a:srgbClr val="2D4A72">
                <a:alpha val="80000"/>
              </a:srgbClr>
            </a:solidFill>
            <a:prstDash val="solid"/>
          </a:ln>
        </p:spPr>
      </p:sp>
      <p:sp>
        <p:nvSpPr>
          <p:cNvPr id="15" name="Shape 12"/>
          <p:cNvSpPr/>
          <p:nvPr/>
        </p:nvSpPr>
        <p:spPr>
          <a:xfrm>
            <a:off x="6364224" y="1901952"/>
            <a:ext cx="640080" cy="0"/>
          </a:xfrm>
          <a:prstGeom prst="line">
            <a:avLst/>
          </a:prstGeom>
          <a:noFill/>
          <a:ln w="25400">
            <a:solidFill>
              <a:srgbClr val="49B778"/>
            </a:solidFill>
            <a:prstDash val="solid"/>
          </a:ln>
        </p:spPr>
      </p:sp>
      <p:sp>
        <p:nvSpPr>
          <p:cNvPr id="16" name="Text 13"/>
          <p:cNvSpPr/>
          <p:nvPr/>
        </p:nvSpPr>
        <p:spPr>
          <a:xfrm>
            <a:off x="6364224" y="2048256"/>
            <a:ext cx="213055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Validate</a:t>
            </a:r>
            <a:endParaRPr lang="en-US" sz="1300" dirty="0"/>
          </a:p>
        </p:txBody>
      </p:sp>
      <p:sp>
        <p:nvSpPr>
          <p:cNvPr id="17" name="Text 14"/>
          <p:cNvSpPr/>
          <p:nvPr/>
        </p:nvSpPr>
        <p:spPr>
          <a:xfrm>
            <a:off x="6364224" y="2414016"/>
            <a:ext cx="2130552" cy="45720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Test scripts, query checks, calculation validation, and reproducible setup notes.</a:t>
            </a:r>
            <a:endParaRPr lang="en-US" sz="1020" dirty="0"/>
          </a:p>
        </p:txBody>
      </p:sp>
      <p:sp>
        <p:nvSpPr>
          <p:cNvPr id="18" name="Shape 15"/>
          <p:cNvSpPr/>
          <p:nvPr/>
        </p:nvSpPr>
        <p:spPr>
          <a:xfrm>
            <a:off x="8915400" y="1700784"/>
            <a:ext cx="2423160" cy="1280160"/>
          </a:xfrm>
          <a:prstGeom prst="roundRect">
            <a:avLst>
              <a:gd name="adj" fmla="val 8571"/>
            </a:avLst>
          </a:prstGeom>
          <a:solidFill>
            <a:srgbClr val="13294B">
              <a:alpha val="94000"/>
            </a:srgbClr>
          </a:solidFill>
          <a:ln w="12700">
            <a:solidFill>
              <a:srgbClr val="2D4A72">
                <a:alpha val="80000"/>
              </a:srgbClr>
            </a:solidFill>
            <a:prstDash val="solid"/>
          </a:ln>
        </p:spPr>
      </p:sp>
      <p:sp>
        <p:nvSpPr>
          <p:cNvPr id="19" name="Shape 16"/>
          <p:cNvSpPr/>
          <p:nvPr/>
        </p:nvSpPr>
        <p:spPr>
          <a:xfrm>
            <a:off x="9061704" y="1901952"/>
            <a:ext cx="640080" cy="0"/>
          </a:xfrm>
          <a:prstGeom prst="line">
            <a:avLst/>
          </a:prstGeom>
          <a:noFill/>
          <a:ln w="25400">
            <a:solidFill>
              <a:srgbClr val="E96060"/>
            </a:solidFill>
            <a:prstDash val="solid"/>
          </a:ln>
        </p:spPr>
      </p:sp>
      <p:sp>
        <p:nvSpPr>
          <p:cNvPr id="20" name="Text 17"/>
          <p:cNvSpPr/>
          <p:nvPr/>
        </p:nvSpPr>
        <p:spPr>
          <a:xfrm>
            <a:off x="9061704" y="2048256"/>
            <a:ext cx="2130552"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Deploy</a:t>
            </a:r>
            <a:endParaRPr lang="en-US" sz="1300" dirty="0"/>
          </a:p>
        </p:txBody>
      </p:sp>
      <p:sp>
        <p:nvSpPr>
          <p:cNvPr id="21" name="Text 18"/>
          <p:cNvSpPr/>
          <p:nvPr/>
        </p:nvSpPr>
        <p:spPr>
          <a:xfrm>
            <a:off x="9061704" y="2414016"/>
            <a:ext cx="2130552" cy="457200"/>
          </a:xfrm>
          <a:prstGeom prst="rect">
            <a:avLst/>
          </a:prstGeom>
          <a:noFill/>
          <a:ln/>
        </p:spPr>
        <p:txBody>
          <a:bodyPr wrap="square" lIns="254" tIns="254" rIns="254" bIns="254" rtlCol="0" anchor="ctr">
            <a:normAutofit/>
          </a:bodyPr>
          <a:lstStyle/>
          <a:p>
            <a:pPr indent="0" marL="0">
              <a:buNone/>
            </a:pPr>
            <a:r>
              <a:rPr lang="en-US" sz="1020" dirty="0">
                <a:solidFill>
                  <a:srgbClr val="D9E7FA"/>
                </a:solidFill>
              </a:rPr>
              <a:t>Deployment files and possible GitHub Actions workflow for cloud updates.</a:t>
            </a:r>
            <a:endParaRPr lang="en-US" sz="1020" dirty="0"/>
          </a:p>
        </p:txBody>
      </p:sp>
      <p:sp>
        <p:nvSpPr>
          <p:cNvPr id="22" name="Text 19"/>
          <p:cNvSpPr/>
          <p:nvPr/>
        </p:nvSpPr>
        <p:spPr>
          <a:xfrm>
            <a:off x="960120" y="3931920"/>
            <a:ext cx="2926080" cy="274320"/>
          </a:xfrm>
          <a:prstGeom prst="rect">
            <a:avLst/>
          </a:prstGeom>
          <a:noFill/>
          <a:ln/>
        </p:spPr>
        <p:txBody>
          <a:bodyPr wrap="square" lIns="0" tIns="0" rIns="0" bIns="0" rtlCol="0" anchor="ctr"/>
          <a:lstStyle/>
          <a:p>
            <a:pPr indent="0" marL="0">
              <a:buNone/>
            </a:pPr>
            <a:r>
              <a:rPr lang="en-US" sz="1500" b="1" dirty="0">
                <a:solidFill>
                  <a:srgbClr val="FFFFFF"/>
                </a:solidFill>
              </a:rPr>
              <a:t>Project checkpoint</a:t>
            </a:r>
            <a:endParaRPr lang="en-US" sz="1500" dirty="0"/>
          </a:p>
        </p:txBody>
      </p:sp>
      <p:sp>
        <p:nvSpPr>
          <p:cNvPr id="23" name="Text 20"/>
          <p:cNvSpPr/>
          <p:nvPr/>
        </p:nvSpPr>
        <p:spPr>
          <a:xfrm>
            <a:off x="960120" y="4389120"/>
            <a:ext cx="7040880" cy="768096"/>
          </a:xfrm>
          <a:prstGeom prst="rect">
            <a:avLst/>
          </a:prstGeom>
          <a:noFill/>
          <a:ln/>
        </p:spPr>
        <p:txBody>
          <a:bodyPr wrap="square" lIns="0" tIns="0" rIns="0" bIns="0" rtlCol="0" anchor="ctr">
            <a:normAutofit/>
          </a:bodyPr>
          <a:lstStyle/>
          <a:p>
            <a:pPr indent="0" marL="0">
              <a:buNone/>
            </a:pPr>
            <a:r>
              <a:rPr lang="en-US" sz="1250" dirty="0">
                <a:solidFill>
                  <a:srgbClr val="D9E7FA"/>
                </a:solidFill>
              </a:rPr>
              <a:t>A strong final version should clearly show the data path, application features, cloud deployment choice, and limitations. The priority is a reliable monitoring tool; ML/NLP is an enhancement only if time allows.</a:t>
            </a:r>
            <a:endParaRPr lang="en-US" sz="1250" dirty="0"/>
          </a:p>
        </p:txBody>
      </p:sp>
      <p:sp>
        <p:nvSpPr>
          <p:cNvPr id="24" name="Shape 21"/>
          <p:cNvSpPr/>
          <p:nvPr/>
        </p:nvSpPr>
        <p:spPr>
          <a:xfrm>
            <a:off x="960120" y="5532120"/>
            <a:ext cx="7223760" cy="475488"/>
          </a:xfrm>
          <a:prstGeom prst="roundRect">
            <a:avLst>
              <a:gd name="adj" fmla="val 19231"/>
            </a:avLst>
          </a:prstGeom>
          <a:solidFill>
            <a:srgbClr val="0FB7C2">
              <a:alpha val="92000"/>
            </a:srgbClr>
          </a:solidFill>
          <a:ln w="12700">
            <a:solidFill>
              <a:srgbClr val="0FB7C2">
                <a:alpha val="85000"/>
              </a:srgbClr>
            </a:solidFill>
            <a:prstDash val="solid"/>
          </a:ln>
        </p:spPr>
      </p:sp>
      <p:sp>
        <p:nvSpPr>
          <p:cNvPr id="25" name="Text 22"/>
          <p:cNvSpPr/>
          <p:nvPr/>
        </p:nvSpPr>
        <p:spPr>
          <a:xfrm>
            <a:off x="1143000" y="5660136"/>
            <a:ext cx="6858000" cy="164592"/>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rPr>
              <a:t>Final direction: practical, cloud-based risk analytics application for proactive CFPB complaint monitoring.</a:t>
            </a:r>
            <a:endParaRPr lang="en-US" sz="1080" dirty="0"/>
          </a:p>
        </p:txBody>
      </p:sp>
      <p:sp>
        <p:nvSpPr>
          <p:cNvPr id="26" name="Text 23"/>
          <p:cNvSpPr/>
          <p:nvPr/>
        </p:nvSpPr>
        <p:spPr>
          <a:xfrm>
            <a:off x="548640" y="6473952"/>
            <a:ext cx="5303520" cy="201168"/>
          </a:xfrm>
          <a:prstGeom prst="rect">
            <a:avLst/>
          </a:prstGeom>
          <a:noFill/>
          <a:ln/>
        </p:spPr>
        <p:txBody>
          <a:bodyPr wrap="square" lIns="0" tIns="0" rIns="0" bIns="0" rtlCol="0" anchor="ctr"/>
          <a:lstStyle/>
          <a:p>
            <a:pPr indent="0" marL="0">
              <a:buNone/>
            </a:pPr>
            <a:r>
              <a:rPr lang="en-US" sz="850" dirty="0">
                <a:solidFill>
                  <a:srgbClr val="A7B3C8"/>
                </a:solidFill>
                <a:latin typeface="Aptos" pitchFamily="34" charset="0"/>
                <a:ea typeface="Aptos" pitchFamily="34" charset="-122"/>
                <a:cs typeface="Aptos" pitchFamily="34" charset="-120"/>
              </a:rPr>
              <a:t>MSDS 434 • Functional Specification • 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Northwestern MSDS 434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Proactive CFPB Complaint Monitoring and Risk Analytics Application</dc:title>
  <dc:subject>MSDS 434 Final Project Functional Specification</dc:subject>
  <dc:creator>Jazz Weller</dc:creator>
  <cp:lastModifiedBy>Jazz Weller</cp:lastModifiedBy>
  <cp:revision>1</cp:revision>
  <dcterms:created xsi:type="dcterms:W3CDTF">2026-07-10T01:00:02Z</dcterms:created>
  <dcterms:modified xsi:type="dcterms:W3CDTF">2026-07-10T01:00:02Z</dcterms:modified>
</cp:coreProperties>
</file>